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65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11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2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640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44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864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10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74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249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11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5F7-3B67-4DF3-9129-6D2C859758AD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ACF6-D966-467A-8184-A181BF639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64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Великие географические открытия (XV—XVII вв.)</a:t>
            </a:r>
            <a:br>
              <a:rPr lang="ru-RU" b="1" dirty="0"/>
            </a:br>
            <a:endParaRPr lang="ru-RU" dirty="0"/>
          </a:p>
        </p:txBody>
      </p:sp>
      <p:pic>
        <p:nvPicPr>
          <p:cNvPr id="1026" name="Picture 2" descr="Великие географические открытия | Sutori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7312" y="1825625"/>
            <a:ext cx="603737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636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Великие географические открытия (ВГО)</a:t>
            </a:r>
            <a:r>
              <a:rPr lang="ru-RU" dirty="0"/>
              <a:t> — период в истории человечества (конец XV — середина XVII в.), в ходе которого европейские мореплаватели открыли новые континенты, океанские пути и острова, что привело к сложению глобального мирового рынка и колониальных империй.</a:t>
            </a:r>
          </a:p>
        </p:txBody>
      </p:sp>
    </p:spTree>
    <p:extLst>
      <p:ext uri="{BB962C8B-B14F-4D97-AF65-F5344CB8AC3E}">
        <p14:creationId xmlns:p14="http://schemas.microsoft.com/office/powerpoint/2010/main" val="339532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Причины и мотивы открытий («Захотели»):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Экономический фактор (кризис посреднической торговли):</a:t>
            </a:r>
            <a:r>
              <a:rPr lang="ru-RU" dirty="0"/>
              <a:t> * Высокие цены на восточные товары (пряности, шёлк, фарфор) из-за монополии венецианских, генуэзских и арабских купцов. * Захват османами Константинополя (1453 г.) и перекрытие традиционных маршрутов Великого шёлкового пути.</a:t>
            </a:r>
          </a:p>
          <a:p>
            <a:r>
              <a:rPr lang="ru-RU" b="1" dirty="0"/>
              <a:t>Жажда драгоценных металлов:</a:t>
            </a:r>
            <a:r>
              <a:rPr lang="ru-RU" dirty="0"/>
              <a:t> Растущая европейская экономика испытывала острый дефицит золота и серебра для чеканки монет.</a:t>
            </a:r>
          </a:p>
          <a:p>
            <a:r>
              <a:rPr lang="ru-RU" b="1" dirty="0"/>
              <a:t>Религиозные и социокультурные мотивы:</a:t>
            </a:r>
            <a:r>
              <a:rPr lang="ru-RU" dirty="0"/>
              <a:t> Стремление распространять христианство и дух ренессансного предпринимательства, риска и познания мира.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202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Предпосылки и научно-технические достижения («Смогли»):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Новый тип судов — Каравелла:</a:t>
            </a:r>
            <a:r>
              <a:rPr lang="ru-RU" dirty="0"/>
              <a:t> Исключительно парусное, маневренное и вместительное судно с системой прямых и косых (латинских) парусов, позволявших идти под углом к встречному ветру.</a:t>
            </a:r>
          </a:p>
          <a:p>
            <a:r>
              <a:rPr lang="ru-RU" b="1" dirty="0"/>
              <a:t>Навигационные приборы:</a:t>
            </a:r>
            <a:r>
              <a:rPr lang="ru-RU" dirty="0"/>
              <a:t> Распространение </a:t>
            </a:r>
            <a:r>
              <a:rPr lang="ru-RU" i="1" dirty="0"/>
              <a:t>компаса</a:t>
            </a:r>
            <a:r>
              <a:rPr lang="ru-RU" dirty="0"/>
              <a:t> (определение сторон света в открытом океане) и </a:t>
            </a:r>
            <a:r>
              <a:rPr lang="ru-RU" i="1" dirty="0"/>
              <a:t>астролябии</a:t>
            </a:r>
            <a:r>
              <a:rPr lang="ru-RU" dirty="0"/>
              <a:t> (расчёт широты по звёздам и Солнцу).</a:t>
            </a:r>
          </a:p>
          <a:p>
            <a:r>
              <a:rPr lang="ru-RU" b="1" dirty="0"/>
              <a:t>Развитие картографии и географии:</a:t>
            </a:r>
            <a:r>
              <a:rPr lang="ru-RU" dirty="0"/>
              <a:t> Появление точных береговых карт (</a:t>
            </a:r>
            <a:r>
              <a:rPr lang="ru-RU" i="1" dirty="0" err="1"/>
              <a:t>портоланов</a:t>
            </a:r>
            <a:r>
              <a:rPr lang="ru-RU" dirty="0"/>
              <a:t>), утверждение идеи о шарообразности Земли (глобус М. </a:t>
            </a:r>
            <a:r>
              <a:rPr lang="ru-RU" dirty="0" err="1"/>
              <a:t>Бехайма</a:t>
            </a:r>
            <a:r>
              <a:rPr lang="ru-RU" dirty="0"/>
              <a:t> 1492 г. «Земное яблоко», переиздание карт К. Птолемея).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152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cs typeface="0xProto Nerd Font Propo" panose="020B0509030203030204" pitchFamily="50" charset="0"/>
              </a:rPr>
              <a:t>Основные этапы и ключевые экспедиции</a:t>
            </a:r>
            <a:endParaRPr lang="ru-RU" dirty="0">
              <a:cs typeface="0xProto Nerd Font Propo" panose="020B0509030203030204" pitchFamily="50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749716" cy="4351338"/>
          </a:xfrm>
        </p:spPr>
        <p:txBody>
          <a:bodyPr>
            <a:normAutofit lnSpcReduction="10000"/>
          </a:bodyPr>
          <a:lstStyle/>
          <a:p>
            <a:r>
              <a:rPr lang="ru-RU" b="1" u="sng" dirty="0">
                <a:cs typeface="0xProto Nerd Font" panose="020B0509030203030204" pitchFamily="50" charset="0"/>
              </a:rPr>
              <a:t>Португалия: Вдоль Африки в </a:t>
            </a:r>
            <a:r>
              <a:rPr lang="ru-RU" b="1" u="sng" dirty="0" smtClean="0">
                <a:cs typeface="0xProto Nerd Font" panose="020B0509030203030204" pitchFamily="50" charset="0"/>
              </a:rPr>
              <a:t>Индию</a:t>
            </a:r>
            <a:endParaRPr lang="ru-RU" b="1" dirty="0">
              <a:cs typeface="0xProto Nerd Font" panose="020B0509030203030204" pitchFamily="50" charset="0"/>
            </a:endParaRPr>
          </a:p>
          <a:p>
            <a:r>
              <a:rPr lang="ru-RU" dirty="0">
                <a:cs typeface="0xProto Nerd Font" panose="020B0509030203030204" pitchFamily="50" charset="0"/>
              </a:rPr>
              <a:t>Пионером океанских плаваний стала Португалия благодаря поддержке принца Энрике Мореплавателя.</a:t>
            </a:r>
          </a:p>
          <a:p>
            <a:r>
              <a:rPr lang="ru-RU" b="1" dirty="0">
                <a:cs typeface="0xProto Nerd Font" panose="020B0509030203030204" pitchFamily="50" charset="0"/>
              </a:rPr>
              <a:t>1488 г. — </a:t>
            </a:r>
            <a:r>
              <a:rPr lang="ru-RU" b="1" dirty="0" err="1">
                <a:cs typeface="0xProto Nerd Font" panose="020B0509030203030204" pitchFamily="50" charset="0"/>
              </a:rPr>
              <a:t>Бартоломеу</a:t>
            </a:r>
            <a:r>
              <a:rPr lang="ru-RU" b="1" dirty="0">
                <a:cs typeface="0xProto Nerd Font" panose="020B0509030203030204" pitchFamily="50" charset="0"/>
              </a:rPr>
              <a:t> </a:t>
            </a:r>
            <a:r>
              <a:rPr lang="ru-RU" b="1" dirty="0" err="1">
                <a:cs typeface="0xProto Nerd Font" panose="020B0509030203030204" pitchFamily="50" charset="0"/>
              </a:rPr>
              <a:t>Диаш</a:t>
            </a:r>
            <a:r>
              <a:rPr lang="ru-RU" b="1" dirty="0">
                <a:cs typeface="0xProto Nerd Font" panose="020B0509030203030204" pitchFamily="50" charset="0"/>
              </a:rPr>
              <a:t>:</a:t>
            </a:r>
            <a:r>
              <a:rPr lang="ru-RU" dirty="0">
                <a:cs typeface="0xProto Nerd Font" panose="020B0509030203030204" pitchFamily="50" charset="0"/>
              </a:rPr>
              <a:t> Достиг южной оконечности Африки (мыс Доброй Надежды).</a:t>
            </a:r>
          </a:p>
          <a:p>
            <a:r>
              <a:rPr lang="ru-RU" b="1" dirty="0">
                <a:cs typeface="0xProto Nerd Font" panose="020B0509030203030204" pitchFamily="50" charset="0"/>
              </a:rPr>
              <a:t>1497–1498 гг. — </a:t>
            </a:r>
            <a:r>
              <a:rPr lang="ru-RU" b="1" dirty="0" err="1">
                <a:cs typeface="0xProto Nerd Font" panose="020B0509030203030204" pitchFamily="50" charset="0"/>
              </a:rPr>
              <a:t>Васко</a:t>
            </a:r>
            <a:r>
              <a:rPr lang="ru-RU" b="1" dirty="0">
                <a:cs typeface="0xProto Nerd Font" panose="020B0509030203030204" pitchFamily="50" charset="0"/>
              </a:rPr>
              <a:t> да Гама:</a:t>
            </a:r>
            <a:r>
              <a:rPr lang="ru-RU" dirty="0">
                <a:cs typeface="0xProto Nerd Font" panose="020B0509030203030204" pitchFamily="50" charset="0"/>
              </a:rPr>
              <a:t> Обогнул Африку и с помощью арабского лоцмана Ахмада ибн </a:t>
            </a:r>
            <a:r>
              <a:rPr lang="ru-RU" dirty="0" err="1">
                <a:cs typeface="0xProto Nerd Font" panose="020B0509030203030204" pitchFamily="50" charset="0"/>
              </a:rPr>
              <a:t>Маджида</a:t>
            </a:r>
            <a:r>
              <a:rPr lang="ru-RU" dirty="0">
                <a:cs typeface="0xProto Nerd Font" panose="020B0509030203030204" pitchFamily="50" charset="0"/>
              </a:rPr>
              <a:t> проложил прямой морской путь в Индию (г. </a:t>
            </a:r>
            <a:r>
              <a:rPr lang="ru-RU" dirty="0" err="1">
                <a:cs typeface="0xProto Nerd Font" panose="020B0509030203030204" pitchFamily="50" charset="0"/>
              </a:rPr>
              <a:t>Каликут</a:t>
            </a:r>
            <a:r>
              <a:rPr lang="ru-RU" dirty="0">
                <a:cs typeface="0xProto Nerd Font" panose="020B0509030203030204" pitchFamily="50" charset="0"/>
              </a:rPr>
              <a:t>).</a:t>
            </a:r>
          </a:p>
          <a:p>
            <a:endParaRPr lang="ru-RU" dirty="0">
              <a:cs typeface="0xProto Nerd Font" panose="020B0509030203030204" pitchFamily="50" charset="0"/>
            </a:endParaRPr>
          </a:p>
        </p:txBody>
      </p:sp>
      <p:pic>
        <p:nvPicPr>
          <p:cNvPr id="2050" name="Picture 2" descr="Бартоломеу Диаш. Открытия. Биография: vitkvv2017 — LiveJourn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916" y="1363579"/>
            <a:ext cx="3004720" cy="300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0 интересных фактов о Васко да Гаме — СТО ФАКТОВ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936" y="4606026"/>
            <a:ext cx="3175251" cy="196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21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Испания: На запад к «Новому Свету»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12 октября 1492 г. — Христофор Колумб:</a:t>
            </a:r>
            <a:r>
              <a:rPr lang="ru-RU" dirty="0"/>
              <a:t> На каравеллах «Санта-Мария», «Пинта» и «</a:t>
            </a:r>
            <a:r>
              <a:rPr lang="ru-RU" dirty="0" err="1"/>
              <a:t>Нинья</a:t>
            </a:r>
            <a:r>
              <a:rPr lang="ru-RU" dirty="0"/>
              <a:t>» пересёк Атлантический океан и достиг Багамских островов (о. Сан-Сальвадор). Открыл Кубу и Гаити. До конца жизни был уверен, что достиг Азии (Вест-Индия).</a:t>
            </a:r>
          </a:p>
          <a:p>
            <a:endParaRPr lang="ru-RU" dirty="0"/>
          </a:p>
        </p:txBody>
      </p:sp>
      <p:pic>
        <p:nvPicPr>
          <p:cNvPr id="3074" name="Picture 2" descr="Христофор Колумб - Великие Люди Мира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373" y="1825625"/>
            <a:ext cx="325925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22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Америго</a:t>
            </a:r>
            <a:r>
              <a:rPr lang="ru-RU" b="1" dirty="0"/>
              <a:t> </a:t>
            </a:r>
            <a:r>
              <a:rPr lang="ru-RU" b="1" dirty="0" err="1"/>
              <a:t>Веспуччи</a:t>
            </a:r>
            <a:r>
              <a:rPr lang="ru-RU" b="1" dirty="0"/>
              <a:t>:</a:t>
            </a:r>
            <a:r>
              <a:rPr lang="ru-RU" dirty="0"/>
              <a:t> На основе исследований побережья Южной Америки первым обосновал, что открытые земли — это «Новый Свет», а не Азия. В его честь материк получил название </a:t>
            </a:r>
            <a:r>
              <a:rPr lang="ru-RU" i="1" dirty="0"/>
              <a:t>Америка</a:t>
            </a:r>
            <a:r>
              <a:rPr lang="ru-RU" dirty="0"/>
              <a:t>.</a:t>
            </a:r>
          </a:p>
          <a:p>
            <a:r>
              <a:rPr lang="ru-RU" b="1" dirty="0"/>
              <a:t>1513 г. — </a:t>
            </a:r>
            <a:r>
              <a:rPr lang="ru-RU" b="1" dirty="0" err="1"/>
              <a:t>Васко</a:t>
            </a:r>
            <a:r>
              <a:rPr lang="ru-RU" b="1" dirty="0"/>
              <a:t> </a:t>
            </a:r>
            <a:r>
              <a:rPr lang="ru-RU" b="1" dirty="0" err="1"/>
              <a:t>Нуньес</a:t>
            </a:r>
            <a:r>
              <a:rPr lang="ru-RU" b="1" dirty="0"/>
              <a:t> де Бальбоа:</a:t>
            </a:r>
            <a:r>
              <a:rPr lang="ru-RU" dirty="0"/>
              <a:t> Пересёк Панамский перешеек и первым из европейцев вышел к Тихому океану («Южному морю»).</a:t>
            </a:r>
          </a:p>
          <a:p>
            <a:endParaRPr lang="ru-RU" dirty="0"/>
          </a:p>
        </p:txBody>
      </p:sp>
      <p:pic>
        <p:nvPicPr>
          <p:cNvPr id="4106" name="Picture 10" descr="Веспуччи Америго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366" y="1825625"/>
            <a:ext cx="32472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180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1519–1522 гг. — </a:t>
            </a:r>
            <a:r>
              <a:rPr lang="ru-RU" b="1" dirty="0" err="1"/>
              <a:t>Фернан</a:t>
            </a:r>
            <a:r>
              <a:rPr lang="ru-RU" b="1" dirty="0"/>
              <a:t> Магеллан и Хуан Себастьян </a:t>
            </a:r>
            <a:r>
              <a:rPr lang="ru-RU" b="1" dirty="0" err="1"/>
              <a:t>Элькано</a:t>
            </a:r>
            <a:r>
              <a:rPr lang="ru-RU" b="1" dirty="0"/>
              <a:t>:</a:t>
            </a:r>
            <a:r>
              <a:rPr lang="ru-RU" dirty="0"/>
              <a:t> Первое в истории кругосветное путешествие. Открыт Магелланов пролив, доказана шарообразность Земли и единство Мирового океана</a:t>
            </a:r>
          </a:p>
        </p:txBody>
      </p:sp>
      <p:pic>
        <p:nvPicPr>
          <p:cNvPr id="5130" name="Picture 10" descr="История первого кругосветного плавания и биография Фернана Магеллана |  Вокруг Света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268049"/>
            <a:ext cx="5181600" cy="346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12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Поиски Северо-Западного и Северо-Восточного проходов (XVI–XVII вв.)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После раздела мира между Испанией и Португалией (</a:t>
            </a:r>
            <a:r>
              <a:rPr lang="ru-RU" dirty="0" err="1"/>
              <a:t>Тордесильясский</a:t>
            </a:r>
            <a:r>
              <a:rPr lang="ru-RU" dirty="0"/>
              <a:t> договор 1494 г. и </a:t>
            </a:r>
            <a:r>
              <a:rPr lang="ru-RU" dirty="0" err="1"/>
              <a:t>Сарагосский</a:t>
            </a:r>
            <a:r>
              <a:rPr lang="ru-RU" dirty="0"/>
              <a:t> договор 1529 г.) другие державы искали обходные пути:</a:t>
            </a:r>
          </a:p>
          <a:p>
            <a:r>
              <a:rPr lang="ru-RU" b="1" dirty="0"/>
              <a:t>Англия:</a:t>
            </a:r>
            <a:r>
              <a:rPr lang="ru-RU" dirty="0"/>
              <a:t> Дж. </a:t>
            </a:r>
            <a:r>
              <a:rPr lang="ru-RU" dirty="0" err="1"/>
              <a:t>Кэбот</a:t>
            </a:r>
            <a:r>
              <a:rPr lang="ru-RU" dirty="0"/>
              <a:t> (1497 г.) исследует побережье Северной Америки.</a:t>
            </a:r>
          </a:p>
          <a:p>
            <a:r>
              <a:rPr lang="ru-RU" b="1" dirty="0"/>
              <a:t>Франция:</a:t>
            </a:r>
            <a:r>
              <a:rPr lang="ru-RU" dirty="0"/>
              <a:t> Ж. Картье (1534–1536 гг.) открыл реку Св. Лаврентия и заложил основу освоения Канады.</a:t>
            </a:r>
          </a:p>
          <a:p>
            <a:r>
              <a:rPr lang="ru-RU" b="1" dirty="0"/>
              <a:t>Нидерланды:</a:t>
            </a:r>
            <a:r>
              <a:rPr lang="ru-RU" dirty="0"/>
              <a:t> В. Баренц (1594–1596 гг.) исследовал Новую Землю в поисках Северо-Восточного прохода; А. Тасман (1642–1644 гг.) доказал, что Австралия является отдельным континентом, открыл Новую Зеландию и Тасманию.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886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 и значение Великих географических открытий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Научное значение:</a:t>
            </a:r>
            <a:r>
              <a:rPr lang="ru-RU" dirty="0"/>
              <a:t> Практически доказана шарообразность Земли, установлены её реальные размеры, открыт Тихий океан и новые континенты.</a:t>
            </a:r>
          </a:p>
          <a:p>
            <a:r>
              <a:rPr lang="ru-RU" b="1" dirty="0"/>
              <a:t>Экономическое значение:</a:t>
            </a:r>
            <a:r>
              <a:rPr lang="ru-RU" dirty="0"/>
              <a:t> Торговые пути сместились из Средиземного моря в Атлантический и Индийский океаны. Началось формирование </a:t>
            </a:r>
            <a:r>
              <a:rPr lang="ru-RU" i="1" dirty="0"/>
              <a:t>мирового рынка</a:t>
            </a:r>
            <a:r>
              <a:rPr lang="ru-RU" dirty="0"/>
              <a:t>.</a:t>
            </a:r>
          </a:p>
          <a:p>
            <a:r>
              <a:rPr lang="ru-RU" b="1" dirty="0"/>
              <a:t>Социокультурное значение:</a:t>
            </a:r>
            <a:r>
              <a:rPr lang="ru-RU" dirty="0"/>
              <a:t> Переворот в мировоззрении европейцев, начало взаимодействия и столкновения европейской цивилизации с культурами других континентов.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7576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Домашнее задание (Д/З)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Заполнить в тетради систематизирующую таблицу «Великие мореплаватели и их открытия»:</a:t>
            </a:r>
          </a:p>
          <a:p>
            <a:endParaRPr lang="ru-RU" dirty="0" smtClean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838200" y="3475514"/>
          <a:ext cx="10515600" cy="1051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623539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626928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413589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14640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Имя мореплавателя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Страна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Годы экспедиций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</a:rPr>
                        <a:t>Географические результаты и открытия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4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62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607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672</Words>
  <Application>Microsoft Office PowerPoint</Application>
  <PresentationFormat>Широкоэкранный</PresentationFormat>
  <Paragraphs>39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0xProto Nerd Font</vt:lpstr>
      <vt:lpstr>0xProto Nerd Font Propo</vt:lpstr>
      <vt:lpstr>Arial</vt:lpstr>
      <vt:lpstr>Calibri</vt:lpstr>
      <vt:lpstr>Calibri Light</vt:lpstr>
      <vt:lpstr>Тема Office</vt:lpstr>
      <vt:lpstr>Великие географические открытия (XV—XVII вв.) </vt:lpstr>
      <vt:lpstr>Презентация PowerPoint</vt:lpstr>
      <vt:lpstr>Причины и мотивы открытий («Захотели»):</vt:lpstr>
      <vt:lpstr>Предпосылки и научно-технические достижения («Смогли»):</vt:lpstr>
      <vt:lpstr>Основные этапы и ключевые экспедиции</vt:lpstr>
      <vt:lpstr>Испания: На запад к «Новому Свету»</vt:lpstr>
      <vt:lpstr>Презентация PowerPoint</vt:lpstr>
      <vt:lpstr>Презентация PowerPoint</vt:lpstr>
      <vt:lpstr>Поиски Северо-Западного и Северо-Восточного проходов (XVI–XVII вв.)</vt:lpstr>
      <vt:lpstr>Итоги и значение Великих географических открытий</vt:lpstr>
      <vt:lpstr>Домашнее задание (Д/З)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Великие географические открытия (XV—XVII вв.) </dc:title>
  <dc:creator>Андрей Николаевич</dc:creator>
  <cp:lastModifiedBy>Андрей Николаевич</cp:lastModifiedBy>
  <cp:revision>4</cp:revision>
  <dcterms:created xsi:type="dcterms:W3CDTF">2026-09-04T02:37:39Z</dcterms:created>
  <dcterms:modified xsi:type="dcterms:W3CDTF">2026-09-04T06:38:49Z</dcterms:modified>
</cp:coreProperties>
</file>