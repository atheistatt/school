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220021"/>
            <a:ext cx="5324475" cy="10144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623566"/>
            <a:ext cx="532447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080766"/>
            <a:ext cx="5590698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1A365D"/>
                </a:solidFill>
                <a:latin typeface="Playfair Display"/>
              </a:rPr>
              <a:t>Человек, общество, государство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362771"/>
            <a:ext cx="53244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1" u="none">
                <a:solidFill>
                  <a:srgbClr val="52627A"/>
                </a:solidFill>
                <a:latin typeface="Merriweather"/>
              </a:rPr>
              <a:t>Европа в XVI–XVII веках: эпоха великих перемен и формирования Нового времени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4362896"/>
            <a:ext cx="490537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8B0000"/>
                </a:solidFill>
                <a:latin typeface="Roboto"/>
              </a:rPr>
              <a:t>§ 5 Конспект урока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От средневековых традиций к зародкам современного государства и социума.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66950"/>
            <a:ext cx="11029950" cy="1314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2457450"/>
            <a:ext cx="11141392" cy="28575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8B0000"/>
                </a:solidFill>
                <a:latin typeface="Playfair Display SemiBold"/>
              </a:rPr>
              <a:t>Проблема урока: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819400"/>
            <a:ext cx="106108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Roboto Medium"/>
              </a:rPr>
              <a:t>Какие изменения произошли в государстве, обществе и повседневной жизни европейцев в XVI–XVII веках и почему они стали возможны?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867150"/>
            <a:ext cx="1158144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A365D"/>
                </a:solidFill>
                <a:latin typeface="Playfair Display SemiBold"/>
              </a:rPr>
              <a:t>Ключевые особенности эпохи: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505075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295775"/>
            <a:ext cx="106965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Roboto"/>
              </a:rPr>
              <a:t>Постепенность:</a:t>
            </a:r>
            <a:r>
              <a:rPr b="0" sz="1350" i="0" u="none">
                <a:solidFill>
                  <a:srgbClr val="334155"/>
                </a:solidFill>
                <a:latin typeface="Roboto"/>
              </a:rPr>
              <a:t> Изменения происходили плавно, растягиваясь на десятилетия и столетия.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5350"/>
            <a:ext cx="106965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Roboto"/>
              </a:rPr>
              <a:t>Неравномерность:</a:t>
            </a:r>
            <a:r>
              <a:rPr b="0" sz="1350" i="0" u="none">
                <a:solidFill>
                  <a:srgbClr val="334155"/>
                </a:solidFill>
                <a:latin typeface="Roboto"/>
              </a:rPr>
              <a:t> Процессы шли с разной скоростью в разных странах и социальных группах.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14925"/>
            <a:ext cx="1069657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Roboto"/>
              </a:rPr>
              <a:t>Сосуществование:</a:t>
            </a:r>
            <a:r>
              <a:rPr b="0" sz="1350" i="0" u="none">
                <a:solidFill>
                  <a:srgbClr val="334155"/>
                </a:solidFill>
                <a:latin typeface="Roboto"/>
              </a:rPr>
              <a:t> Старые средневековые порядки не исчезли мгновенно, а долго уживались с новыми.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31006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719637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129212"/>
            <a:ext cx="23812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8B0000"/>
                </a:solidFill>
                <a:latin typeface="Playfair Display"/>
              </a:rPr>
              <a:t>Главный вопрос урока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05062"/>
            <a:ext cx="5372100" cy="2838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05062"/>
            <a:ext cx="5372100" cy="2838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652712"/>
            <a:ext cx="5020627" cy="29527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8B0000"/>
                </a:solidFill>
                <a:latin typeface="Playfair Display SemiBold"/>
              </a:rPr>
              <a:t>Средневековое государство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3014662"/>
            <a:ext cx="4781550" cy="9525"/>
          </a:xfrm>
          <a:prstGeom prst="rect">
            <a:avLst/>
          </a:prstGeom>
          <a:solidFill>
            <a:srgbClr val="F0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3138487"/>
            <a:ext cx="47815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Власть монарха ограничена: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раздробленностью, правами сеньоров, сословий и городов.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719512"/>
            <a:ext cx="47815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Главные функции: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защита границ, ведение войн, суд и поддержание базового порядка.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876300" y="4348162"/>
            <a:ext cx="4781550" cy="6477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4491037"/>
            <a:ext cx="44005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B0000"/>
                </a:solidFill>
                <a:latin typeface="Roboto"/>
              </a:rPr>
              <a:t>Домен:</a:t>
            </a:r>
            <a:r>
              <a:rPr b="0" sz="1200" i="0" u="none">
                <a:solidFill>
                  <a:srgbClr val="2C3E50"/>
                </a:solidFill>
                <a:latin typeface="Roboto"/>
              </a:rPr>
              <a:t> главный источник доходов монарха — его собственные земли.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6300" y="4348162"/>
            <a:ext cx="38100" cy="6477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150" y="2652712"/>
            <a:ext cx="5020627" cy="295275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8B0000"/>
                </a:solidFill>
                <a:latin typeface="Playfair Display SemiBold"/>
              </a:rPr>
              <a:t>«Новое государство»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4150" y="3014662"/>
            <a:ext cx="4781550" cy="9525"/>
          </a:xfrm>
          <a:prstGeom prst="rect">
            <a:avLst/>
          </a:prstGeom>
          <a:solidFill>
            <a:srgbClr val="F0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150" y="3138487"/>
            <a:ext cx="47815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Усиление централизации: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подчинение единому центру суда, налогов, законодательства и армии.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3719512"/>
            <a:ext cx="47815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Новые функции: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постоянные налоги, бюрократический аппарат, развитие инфраструктуры, поддержка промышленности, борьба с нищенством.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700337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700337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8B0000"/>
                </a:solidFill>
                <a:latin typeface="Playfair Display"/>
              </a:rPr>
              <a:t>От средневековья к «новому государству»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14537"/>
            <a:ext cx="5372100" cy="771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014537"/>
            <a:ext cx="53721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2157412"/>
            <a:ext cx="4953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8B0000"/>
                </a:solidFill>
                <a:latin typeface="Roboto"/>
              </a:rPr>
              <a:t>Абсолютизм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— форма монархии, при которой верховная государственная власть сосредоточена в руках монарха.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0" y="2043112"/>
            <a:ext cx="5314950" cy="3562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976562"/>
            <a:ext cx="50387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Создание регулярной постоянной армии.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6137"/>
            <a:ext cx="50387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Формирование разветвленного бюрократического аппарата.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5712"/>
            <a:ext cx="503872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Ослабление самостоятельности феодальной знати.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5287"/>
            <a:ext cx="50387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Roboto"/>
              </a:rPr>
              <a:t>Власть короля была сильной, но всё же учитывала традиционные права сословий.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990850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400425"/>
            <a:ext cx="1714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10000"/>
            <a:ext cx="1714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219575"/>
            <a:ext cx="17145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8B0000"/>
                </a:solidFill>
                <a:latin typeface="Playfair Display"/>
              </a:rPr>
              <a:t>Абсолютизм в Европе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83643"/>
            <a:ext cx="5372100" cy="26812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83643"/>
            <a:ext cx="5372100" cy="26812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731293"/>
            <a:ext cx="5020627" cy="295275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8B0000"/>
                </a:solidFill>
                <a:latin typeface="Playfair Display SemiBold"/>
              </a:rPr>
              <a:t>Двор как инструмент власти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3093243"/>
            <a:ext cx="4781550" cy="9525"/>
          </a:xfrm>
          <a:prstGeom prst="rect">
            <a:avLst/>
          </a:prstGeom>
          <a:solidFill>
            <a:srgbClr val="F0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3217068"/>
            <a:ext cx="47815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В XVII в. дворы становятся политическими и культурными центрами Европы. Здесь концентрировалась знать, принимались послы и формировалась мода.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6300" y="4088606"/>
            <a:ext cx="4781550" cy="828675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800" y="4231481"/>
            <a:ext cx="44005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B0000"/>
                </a:solidFill>
                <a:latin typeface="Roboto"/>
              </a:rPr>
              <a:t>Этикет:</a:t>
            </a:r>
            <a:r>
              <a:rPr b="0" sz="1200" i="0" u="none">
                <a:solidFill>
                  <a:srgbClr val="2C3E50"/>
                </a:solidFill>
                <a:latin typeface="Roboto"/>
              </a:rPr>
              <a:t> система правил поведения. Роскошь двора подчёркивала статус монарха и близость подданных к королю.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6300" y="4088606"/>
            <a:ext cx="38100" cy="82867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4150" y="2731293"/>
            <a:ext cx="5020627" cy="295275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8B0000"/>
                </a:solidFill>
                <a:latin typeface="Playfair Display SemiBold"/>
              </a:rPr>
              <a:t>Отношение к централизации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4150" y="3093243"/>
            <a:ext cx="4781550" cy="9525"/>
          </a:xfrm>
          <a:prstGeom prst="rect">
            <a:avLst/>
          </a:prstGeom>
          <a:solidFill>
            <a:srgbClr val="F0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150" y="3217068"/>
            <a:ext cx="47815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Поддерживали: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монарх, чиновники, купцы и предприниматели (нужен единый рынок), часть дворянства.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3798093"/>
            <a:ext cx="47815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Roboto"/>
              </a:rPr>
              <a:t>Выступали против:</a:t>
            </a:r>
            <a:r>
              <a:rPr b="0" sz="1275" i="0" u="none">
                <a:solidFill>
                  <a:srgbClr val="334155"/>
                </a:solidFill>
                <a:latin typeface="Roboto"/>
              </a:rPr>
              <a:t> крупные феодалы, независимые города, церковь и плательщики высоких налогов.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778918"/>
            <a:ext cx="2381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778918"/>
            <a:ext cx="26670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8B0000"/>
                </a:solidFill>
                <a:latin typeface="Playfair Display"/>
              </a:rPr>
              <a:t>Придворная культура и этикет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14537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43112"/>
            <a:ext cx="5314950" cy="3562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14537"/>
            <a:ext cx="50387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Roboto"/>
              </a:rPr>
              <a:t>Первое сословие — Духовенство:</a:t>
            </a:r>
            <a:r>
              <a:rPr b="0" sz="1350" i="0" u="none">
                <a:solidFill>
                  <a:srgbClr val="334155"/>
                </a:solidFill>
                <a:latin typeface="Roboto"/>
              </a:rPr>
              <a:t> Занималось богослужением, школами, благотворительностью и ведением метрических книг.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38462"/>
            <a:ext cx="50387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Roboto"/>
              </a:rPr>
              <a:t>Второе сословие — Дворянство:</a:t>
            </a:r>
            <a:r>
              <a:rPr b="0" sz="1350" i="0" u="none">
                <a:solidFill>
                  <a:srgbClr val="334155"/>
                </a:solidFill>
                <a:latin typeface="Roboto"/>
              </a:rPr>
              <a:t> Землевладельцы, военные и гос. чиновники. Обладали налоговыми льготами и привилегиями.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62387"/>
            <a:ext cx="50387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Roboto"/>
              </a:rPr>
              <a:t>Третье сословие:</a:t>
            </a:r>
            <a:r>
              <a:rPr b="0" sz="1350" i="0" u="none">
                <a:solidFill>
                  <a:srgbClr val="334155"/>
                </a:solidFill>
                <a:latin typeface="Roboto"/>
              </a:rPr>
              <a:t> Абсолютное большинство населения (крестьяне, ремесленники, купцы).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28825"/>
            <a:ext cx="1428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952750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876675"/>
            <a:ext cx="23812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8B0000"/>
                </a:solidFill>
                <a:latin typeface="Playfair Display"/>
              </a:rPr>
              <a:t>Сословное общество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05050"/>
            <a:ext cx="351785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305050"/>
            <a:ext cx="3517850" cy="2381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305050"/>
            <a:ext cx="3517850" cy="23812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81025" y="4876800"/>
            <a:ext cx="11029950" cy="466725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1525" y="5019675"/>
            <a:ext cx="106489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B0000"/>
                </a:solidFill>
                <a:latin typeface="Roboto"/>
              </a:rPr>
              <a:t>Сословный барьер:</a:t>
            </a:r>
            <a:r>
              <a:rPr b="0" sz="1200" i="0" u="none">
                <a:solidFill>
                  <a:srgbClr val="2C3E50"/>
                </a:solidFill>
                <a:latin typeface="Roboto"/>
              </a:rPr>
              <a:t> Богатство буржуа не означало автоматического получения дворянского статуса и привилегий.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5" y="4876800"/>
            <a:ext cx="38100" cy="4667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3104" y="3114675"/>
            <a:ext cx="327369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A365D"/>
                </a:solidFill>
                <a:latin typeface="Playfair Display SemiBold"/>
              </a:rPr>
              <a:t>Беднейшие слои и крестьяне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3467100"/>
            <a:ext cx="31178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Составляли большинство населения. Несли главную налоговую нагрузку государства.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9080" y="3114675"/>
            <a:ext cx="327369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A365D"/>
                </a:solidFill>
                <a:latin typeface="Playfair Display SemiBold"/>
              </a:rPr>
              <a:t>Ремесленники и торговцы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7025" y="3467100"/>
            <a:ext cx="31178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Городские жители, составлявшие основу традиционной ремесленной экономики.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5055" y="3114675"/>
            <a:ext cx="327369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A365D"/>
                </a:solidFill>
                <a:latin typeface="Playfair Display SemiBold"/>
              </a:rPr>
              <a:t>Буржуазия (Бюргеры)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000" y="3467100"/>
            <a:ext cx="31178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Состоятельные горожане (купцы, финансисты, предприниматели). Главные ценности: капитал, знания и личный успех.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8900" y="2571750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1063" y="2571750"/>
            <a:ext cx="409575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0851" y="2571750"/>
            <a:ext cx="361950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8B0000"/>
                </a:solidFill>
                <a:latin typeface="Playfair Display"/>
              </a:rPr>
              <a:t>Третье сословие и буржуазия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14537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43112"/>
            <a:ext cx="5314950" cy="3562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14537"/>
            <a:ext cx="50387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Roboto"/>
              </a:rPr>
              <a:t>Появление приватности:</a:t>
            </a:r>
            <a:r>
              <a:rPr b="0" sz="1350" i="0" u="none">
                <a:solidFill>
                  <a:srgbClr val="334155"/>
                </a:solidFill>
                <a:latin typeface="Roboto"/>
              </a:rPr>
              <a:t> На смену проходным комнатам приходят коридоры, отдельные кабинеты и спальни.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81287"/>
            <a:ext cx="50387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Roboto"/>
              </a:rPr>
              <a:t>Развитие мебели:</a:t>
            </a:r>
            <a:r>
              <a:rPr b="0" sz="1350" i="0" u="none">
                <a:solidFill>
                  <a:srgbClr val="334155"/>
                </a:solidFill>
                <a:latin typeface="Roboto"/>
              </a:rPr>
              <a:t> Сундуки заменяются шкафами, появляются кровати с балдахинами и украшенная резьбой мебель.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05212"/>
            <a:ext cx="50387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Roboto"/>
              </a:rPr>
              <a:t>Свет и тепло:</a:t>
            </a:r>
            <a:r>
              <a:rPr b="0" sz="1350" i="0" u="none">
                <a:solidFill>
                  <a:srgbClr val="334155"/>
                </a:solidFill>
                <a:latin typeface="Roboto"/>
              </a:rPr>
              <a:t> Стекло дешевеет, окна делают помещения светлее, совершенствуется отопление.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28825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695575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619500"/>
            <a:ext cx="17145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8B0000"/>
                </a:solidFill>
                <a:latin typeface="Playfair Display"/>
              </a:rPr>
              <a:t>Изменения дома и быта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14537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43112"/>
            <a:ext cx="5314950" cy="3562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72250" y="2014537"/>
            <a:ext cx="50387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Roboto"/>
              </a:rPr>
              <a:t>Питание:</a:t>
            </a:r>
            <a:r>
              <a:rPr b="0" sz="1350" i="0" u="none">
                <a:solidFill>
                  <a:srgbClr val="334155"/>
                </a:solidFill>
                <a:latin typeface="Roboto"/>
              </a:rPr>
              <a:t> Появляются новые продукты из Нового Света (картофель, томаты, чай, кофе). Рацион бедняков остается скромным, у богатых — пышные пиры.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72250" y="2938462"/>
            <a:ext cx="50387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Roboto"/>
              </a:rPr>
              <a:t>Мода:</a:t>
            </a:r>
            <a:r>
              <a:rPr b="0" sz="1350" i="0" u="none">
                <a:solidFill>
                  <a:srgbClr val="334155"/>
                </a:solidFill>
                <a:latin typeface="Roboto"/>
              </a:rPr>
              <a:t> Костюм становится важным показателем социального статуса, богатства и близости к королевскому двору.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028825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952750"/>
            <a:ext cx="238125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8B0000"/>
                </a:solidFill>
                <a:latin typeface="Playfair Display"/>
              </a:rPr>
              <a:t>Питание и бытовая мода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78906"/>
            <a:ext cx="5372100" cy="22907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678906"/>
            <a:ext cx="5372100" cy="22907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926556"/>
            <a:ext cx="5020627" cy="295275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8B0000"/>
                </a:solidFill>
                <a:latin typeface="Playfair Display SemiBold"/>
              </a:rPr>
              <a:t>Семейные устои</a:t>
            </a:r>
          </a:p>
        </p:txBody>
      </p:sp>
      <p:sp>
        <p:nvSpPr>
          <p:cNvPr id="6" name="Rectangle 5"/>
          <p:cNvSpPr/>
          <p:nvPr/>
        </p:nvSpPr>
        <p:spPr>
          <a:xfrm>
            <a:off x="876300" y="3288506"/>
            <a:ext cx="4781550" cy="9525"/>
          </a:xfrm>
          <a:prstGeom prst="rect">
            <a:avLst/>
          </a:prstGeom>
          <a:solidFill>
            <a:srgbClr val="F0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3412331"/>
            <a:ext cx="47815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Сохраняется патриархальный уклад, где глава семьи принимает ключевые решения.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993356"/>
            <a:ext cx="47815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Постепенно растёт ценность личного пространства и меняется отношение к воспитанию детей.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926556"/>
            <a:ext cx="5020627" cy="295275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8B0000"/>
                </a:solidFill>
                <a:latin typeface="Playfair Display SemiBold"/>
              </a:rPr>
              <a:t>Образование и грамотность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4150" y="3288506"/>
            <a:ext cx="4781550" cy="9525"/>
          </a:xfrm>
          <a:prstGeom prst="rect">
            <a:avLst/>
          </a:prstGeom>
          <a:solidFill>
            <a:srgbClr val="F0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4150" y="3412331"/>
            <a:ext cx="47815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Развивается сеть начальных школ, гимназий и университетов.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993356"/>
            <a:ext cx="47815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Roboto"/>
              </a:rPr>
              <a:t>Грамотность становится ключевым ресурсом для успешной карьеры в торговле, государственном аппарате и юриспруденции.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974181"/>
            <a:ext cx="2381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974181"/>
            <a:ext cx="26670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8B0000"/>
                </a:solidFill>
                <a:latin typeface="Playfair Display"/>
              </a:rPr>
              <a:t>Семья и развитие образования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59781"/>
            <a:ext cx="11029950" cy="8239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074193"/>
            <a:ext cx="5419725" cy="2514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3074193"/>
            <a:ext cx="5419725" cy="2514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4031456"/>
            <a:ext cx="5019675" cy="390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4517231"/>
            <a:ext cx="5019675" cy="390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4587" y="2338387"/>
            <a:ext cx="1385887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2202656"/>
            <a:ext cx="7430928" cy="285750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8B0000"/>
                </a:solidFill>
                <a:latin typeface="Playfair Display SemiBold"/>
              </a:rPr>
              <a:t>Практическое задание: Схема «Европеец раннего Нового времени»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526506"/>
            <a:ext cx="70770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Roboto"/>
              </a:rPr>
              <a:t>Составьте в тетради кластер/схему и напишите краткий письменный вывод.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6037" y="2405062"/>
            <a:ext cx="147637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050" y="3274218"/>
            <a:ext cx="5270658" cy="23812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8B0000"/>
                </a:solidFill>
                <a:latin typeface="Playfair Display SemiBold"/>
              </a:rPr>
              <a:t>Структура схемы (в центре: ЧЕЛОВЕК)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050" y="3579018"/>
            <a:ext cx="5019675" cy="9525"/>
          </a:xfrm>
          <a:prstGeom prst="rect">
            <a:avLst/>
          </a:prstGeom>
          <a:solidFill>
            <a:srgbClr val="F0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050" y="3702843"/>
            <a:ext cx="50196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Roboto"/>
              </a:rPr>
              <a:t>От центра проведите </a:t>
            </a:r>
            <a:r>
              <a:rPr b="1" sz="1125" i="0" u="none">
                <a:solidFill>
                  <a:srgbClr val="334155"/>
                </a:solidFill>
                <a:latin typeface="Roboto"/>
              </a:rPr>
              <a:t>5 ветвей</a:t>
            </a:r>
            <a:r>
              <a:rPr b="0" sz="1125" i="0" u="none">
                <a:solidFill>
                  <a:srgbClr val="334155"/>
                </a:solidFill>
                <a:latin typeface="Roboto"/>
              </a:rPr>
              <a:t>, указав по </a:t>
            </a:r>
            <a:r>
              <a:rPr b="1" sz="1125" i="0" u="none">
                <a:solidFill>
                  <a:srgbClr val="334155"/>
                </a:solidFill>
                <a:latin typeface="Roboto"/>
              </a:rPr>
              <a:t>2 изменения</a:t>
            </a:r>
            <a:r>
              <a:rPr b="0" sz="1125" i="0" u="none">
                <a:solidFill>
                  <a:srgbClr val="334155"/>
                </a:solidFill>
                <a:latin typeface="Roboto"/>
              </a:rPr>
              <a:t> в каждой: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2250281"/>
            <a:ext cx="2381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50" y="3312318"/>
            <a:ext cx="190500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91275" y="3274218"/>
            <a:ext cx="5270658" cy="2381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A365D"/>
                </a:solidFill>
                <a:latin typeface="Playfair Display SemiBold"/>
              </a:rPr>
              <a:t>Письменный вывод (2–3 предложения)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91275" y="3579018"/>
            <a:ext cx="5019675" cy="9525"/>
          </a:xfrm>
          <a:prstGeom prst="rect">
            <a:avLst/>
          </a:prstGeom>
          <a:solidFill>
            <a:srgbClr val="F0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275" y="3702843"/>
            <a:ext cx="50196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Roboto"/>
              </a:rPr>
              <a:t>В конце схемы напишите краткое заключение, ответив на 2 вопроса: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" y="4012406"/>
            <a:ext cx="46863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Roboto"/>
              </a:rPr>
              <a:t>Государство</a:t>
            </a:r>
            <a:r>
              <a:rPr b="0" sz="1125" i="0" u="none">
                <a:solidFill>
                  <a:srgbClr val="334155"/>
                </a:solidFill>
                <a:latin typeface="Roboto"/>
              </a:rPr>
              <a:t> (2 изменения)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4302918"/>
            <a:ext cx="46863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Roboto"/>
              </a:rPr>
              <a:t>Общество</a:t>
            </a:r>
            <a:r>
              <a:rPr b="0" sz="1125" i="0" u="none">
                <a:solidFill>
                  <a:srgbClr val="334155"/>
                </a:solidFill>
                <a:latin typeface="Roboto"/>
              </a:rPr>
              <a:t> (2 изменения)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425" y="4593431"/>
            <a:ext cx="46863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Roboto"/>
              </a:rPr>
              <a:t>Дом</a:t>
            </a:r>
            <a:r>
              <a:rPr b="0" sz="1125" i="0" u="none">
                <a:solidFill>
                  <a:srgbClr val="334155"/>
                </a:solidFill>
                <a:latin typeface="Roboto"/>
              </a:rPr>
              <a:t> (2 изменения)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" y="4883943"/>
            <a:ext cx="46863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Roboto"/>
              </a:rPr>
              <a:t>Питание и одежда</a:t>
            </a:r>
            <a:r>
              <a:rPr b="0" sz="1125" i="0" u="none">
                <a:solidFill>
                  <a:srgbClr val="334155"/>
                </a:solidFill>
                <a:latin typeface="Roboto"/>
              </a:rPr>
              <a:t> (2 изменения)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425" y="5174456"/>
            <a:ext cx="46863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Roboto"/>
              </a:rPr>
              <a:t>Образование и семья</a:t>
            </a:r>
            <a:r>
              <a:rPr b="0" sz="1125" i="0" u="none">
                <a:solidFill>
                  <a:srgbClr val="334155"/>
                </a:solidFill>
                <a:latin typeface="Roboto"/>
              </a:rPr>
              <a:t> (2 изменения)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3312318"/>
            <a:ext cx="1714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72250" y="4126706"/>
            <a:ext cx="46958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Roboto"/>
              </a:rPr>
              <a:t>1. Какие из происшедших изменений были наиболее важными?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0" y="4612481"/>
            <a:ext cx="46958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Roboto"/>
              </a:rPr>
              <a:t>2. Почему при этих изменениях общество всё ещё оставалось сословным?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1050" y="4031456"/>
            <a:ext cx="1524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" y="4321968"/>
            <a:ext cx="1905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1050" y="4612481"/>
            <a:ext cx="1714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050" y="4902993"/>
            <a:ext cx="13335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1050" y="5193506"/>
            <a:ext cx="1905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8B0000"/>
                </a:solidFill>
                <a:latin typeface="Playfair Display"/>
              </a:rPr>
              <a:t>Домашнее задание (§ 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19225" y="1900237"/>
            <a:ext cx="9353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9225" y="2671762"/>
            <a:ext cx="9353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9225" y="3443287"/>
            <a:ext cx="9353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9225" y="4214812"/>
            <a:ext cx="9353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9225" y="2662237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9225" y="2662237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9225" y="3433762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19225" y="3433762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9225" y="4205287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9225" y="4205287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9225" y="4976812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19225" y="4976812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204311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4600" y="2050256"/>
            <a:ext cx="8258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https://misterbookman.com.au/wp-content/uploads/imported/3/Old-European-Cities-32-16th-Century-Maps-Texts-1572-1618-Hb-1965-326927443823.jpg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283618"/>
            <a:ext cx="8258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misterbookman.com.au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2814637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514600" y="2821781"/>
            <a:ext cx="8258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https://en.chateauversailles.fr/sites/default/files/xiv.jpg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055143"/>
            <a:ext cx="8258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en.chateauversailles.fr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3586162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14600" y="3593306"/>
            <a:ext cx="8258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http://greyhistory.com/wp-content/uploads/2021/01/the_three_estates.jpg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826668"/>
            <a:ext cx="8258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greyhistory.com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4357687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514600" y="4364831"/>
            <a:ext cx="8258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https://pdr-assets.b-cdn.net/essays/art-in-art/1-256240-1454408285-1.jpg?width=1200&amp;height=765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598193"/>
            <a:ext cx="8258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publicdomainreview.org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225" y="5129212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5136356"/>
            <a:ext cx="8258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https://i.natgeofe.com/n/983f1305-6f94-4d68-a6c8-c7828c6d80c8/01-wedding-feast-cana_16x9.jpg?w=1200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369718"/>
            <a:ext cx="8258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www.nationalgeographic.com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8B0000"/>
                </a:solidFill>
                <a:latin typeface="Playfair Display"/>
              </a:rPr>
              <a:t>Image Sources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19225" y="1900237"/>
            <a:ext cx="9353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19225" y="2671762"/>
            <a:ext cx="9353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9225" y="3443287"/>
            <a:ext cx="9353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9225" y="4214812"/>
            <a:ext cx="93535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9225" y="2662237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9225" y="2662237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9225" y="3433762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9225" y="3433762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19225" y="4205287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9225" y="4205287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9225" y="4976812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9225" y="4976812"/>
            <a:ext cx="93535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2043112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14600" y="2050256"/>
            <a:ext cx="8258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https://misterbookman.com.au/wp-content/uploads/imported/3/Old-European-Cities-32-16th-Century-Maps-Texts-1572-1618-Hb-1965-326927443823.jpg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283618"/>
            <a:ext cx="8258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misterbookman.com.au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2814637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14600" y="2821781"/>
            <a:ext cx="8258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https://en.chateauversailles.fr/sites/default/files/xiv.jpg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055143"/>
            <a:ext cx="8258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en.chateauversailles.fr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225" y="3586162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514600" y="3593306"/>
            <a:ext cx="8258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http://greyhistory.com/wp-content/uploads/2021/01/the_three_estates.jpg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826668"/>
            <a:ext cx="8258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greyhistory.com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225" y="4357687"/>
            <a:ext cx="857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14600" y="4364831"/>
            <a:ext cx="8258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https://pdr-assets.b-cdn.net/essays/art-in-art/1-256240-1454408285-1.jpg?width=1200&amp;height=765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598193"/>
            <a:ext cx="8258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publicdomainreview.org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9225" y="5129212"/>
            <a:ext cx="857250" cy="476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514600" y="5136356"/>
            <a:ext cx="82581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Roboto"/>
              </a:rPr>
              <a:t>https://i.natgeofe.com/n/983f1305-6f94-4d68-a6c8-c7828c6d80c8/01-wedding-feast-cana_16x9.jpg?w=1200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5369718"/>
            <a:ext cx="8258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Robo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Roboto"/>
              </a:rPr>
              <a:t>www.nationalgeographic.com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8B0000"/>
                </a:solidFill>
                <a:latin typeface="Playfair Display"/>
              </a:rPr>
              <a:t>Image Sources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1025" y="1019175"/>
            <a:ext cx="11029950" cy="1905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