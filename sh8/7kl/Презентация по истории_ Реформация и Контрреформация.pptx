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68125" y="6515100"/>
            <a:ext cx="47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2248941"/>
            <a:ext cx="550068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CFAF6"/>
                </a:solidFill>
                <a:latin typeface="Cormorant Garamond"/>
              </a:rPr>
              <a:t>Реформация и Контрреформация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3622327"/>
            <a:ext cx="5238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0D6C8"/>
                </a:solidFill>
                <a:latin typeface="Montserrat"/>
              </a:rPr>
              <a:t>Причины, ключевые события и религиозный раскол в Европе XVI века.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700" y="1810791"/>
            <a:ext cx="5019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D4AF37"/>
                </a:solidFill>
                <a:latin typeface="Montserrat SemiBold"/>
              </a:rPr>
              <a:t>ВСЕМИРНАЯ ИСТОРИЯ • XVI ВЕК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47158"/>
            <a:ext cx="26670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9175" y="4580483"/>
            <a:ext cx="44672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CFAF6"/>
                </a:solidFill>
                <a:latin typeface="Montserrat"/>
              </a:rPr>
              <a:t>На карте фрагмент Алтаря в Виттенберге: Мартин Лютер указывает на распятого Христа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946820"/>
            <a:ext cx="11144250" cy="5238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84995"/>
            <a:ext cx="11144250" cy="52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223170"/>
            <a:ext cx="11144250" cy="523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861345"/>
            <a:ext cx="11144250" cy="523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99520"/>
            <a:ext cx="11144250" cy="523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5137695"/>
            <a:ext cx="11144250" cy="523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Хронология Реформации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49075" y="6515100"/>
            <a:ext cx="66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2061120"/>
            <a:ext cx="13335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1517 г.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475" y="2118270"/>
            <a:ext cx="9201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C2523"/>
                </a:solidFill>
                <a:latin typeface="Montserrat"/>
              </a:rPr>
              <a:t>Выступление Мартина Лютера:</a:t>
            </a:r>
            <a:r>
              <a:rPr b="0" sz="1200" i="0" u="none">
                <a:solidFill>
                  <a:srgbClr val="2C2523"/>
                </a:solidFill>
                <a:latin typeface="Montserrat"/>
              </a:rPr>
              <a:t> Публикация «95 тезисов» в Виттенберге, начало Реформации в Германии.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699295"/>
            <a:ext cx="13335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1521 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475" y="2756445"/>
            <a:ext cx="9201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C2523"/>
                </a:solidFill>
                <a:latin typeface="Montserrat"/>
              </a:rPr>
              <a:t>Вормсский рейхстаг:</a:t>
            </a:r>
            <a:r>
              <a:rPr b="0" sz="1200" i="0" u="none">
                <a:solidFill>
                  <a:srgbClr val="2C2523"/>
                </a:solidFill>
                <a:latin typeface="Montserrat"/>
              </a:rPr>
              <a:t> Лютер отказался отречься от своих взглядов перед императором Карлом 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337470"/>
            <a:ext cx="13335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1524–1525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475" y="3394620"/>
            <a:ext cx="9201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C2523"/>
                </a:solidFill>
                <a:latin typeface="Montserrat"/>
              </a:rPr>
              <a:t>Крестьянская война в Германии:</a:t>
            </a:r>
            <a:r>
              <a:rPr b="0" sz="1200" i="0" u="none">
                <a:solidFill>
                  <a:srgbClr val="2C2523"/>
                </a:solidFill>
                <a:latin typeface="Montserrat"/>
              </a:rPr>
              <a:t> Массовое народное движение под руководством Томаса Мюнцера.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3975645"/>
            <a:ext cx="13335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1529 г.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6475" y="4032795"/>
            <a:ext cx="9201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C2523"/>
                </a:solidFill>
                <a:latin typeface="Montserrat"/>
              </a:rPr>
              <a:t>Шпейерский протест:</a:t>
            </a:r>
            <a:r>
              <a:rPr b="0" sz="1200" i="0" u="none">
                <a:solidFill>
                  <a:srgbClr val="2C2523"/>
                </a:solidFill>
                <a:latin typeface="Montserrat"/>
              </a:rPr>
              <a:t> Сторонники Реформации заявили протест, возникновение термина «протестанты».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4613820"/>
            <a:ext cx="13335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1534 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6475" y="4670970"/>
            <a:ext cx="9201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C2523"/>
                </a:solidFill>
                <a:latin typeface="Montserrat"/>
              </a:rPr>
              <a:t>Акт о супрематии:</a:t>
            </a:r>
            <a:r>
              <a:rPr b="0" sz="1200" i="0" u="none">
                <a:solidFill>
                  <a:srgbClr val="2C2523"/>
                </a:solidFill>
                <a:latin typeface="Montserrat"/>
              </a:rPr>
              <a:t> Начало Реформации в Англии по инициативе короля Генриха VIII.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5251995"/>
            <a:ext cx="13335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1555 г.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6475" y="5309145"/>
            <a:ext cx="9201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C2523"/>
                </a:solidFill>
                <a:latin typeface="Montserrat"/>
              </a:rPr>
              <a:t>Аугсбургский мир:</a:t>
            </a:r>
            <a:r>
              <a:rPr b="0" sz="1200" i="0" u="none">
                <a:solidFill>
                  <a:srgbClr val="2C2523"/>
                </a:solidFill>
                <a:latin typeface="Montserrat"/>
              </a:rPr>
              <a:t> Закрепление принципа «Чья власть, того и вера» в Священной Римской империи.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518195"/>
            <a:ext cx="3587650" cy="2190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025" y="1518195"/>
            <a:ext cx="3587799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325" y="1518195"/>
            <a:ext cx="3587650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899445"/>
            <a:ext cx="3587650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025" y="3899445"/>
            <a:ext cx="3587799" cy="2190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325" y="3899445"/>
            <a:ext cx="3587650" cy="2190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Главные понятия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49075" y="6515100"/>
            <a:ext cx="66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203995"/>
            <a:ext cx="33069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Реформация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575470"/>
            <a:ext cx="3149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Широкое религиозное и общественное движение XVI в. за реформу Католической церкви, давшее начало протестантизму.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100" y="2203995"/>
            <a:ext cx="330713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Индульгенция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100" y="257547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Грамота об отпущении временных наказаний за грехи, продаваемая Католической церковью за деньги.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9400" y="2203995"/>
            <a:ext cx="33069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Протестанты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9400" y="2575470"/>
            <a:ext cx="3149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Общее название для всех сторонников и последователей новых христианских учений, отколовшихся от католицизма.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585245"/>
            <a:ext cx="33069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Секуляризация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956720"/>
            <a:ext cx="3149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Переход церковной собственности, земель и имущества под контроль светских властей или государства.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100" y="4585245"/>
            <a:ext cx="330713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Контрреформация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00" y="4956720"/>
            <a:ext cx="31496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Комплекс мер Католической церкви XVI–XVII вв., направленных на обновление церкви и борьбу с протестантизмом.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9400" y="4585245"/>
            <a:ext cx="33069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Иезуиты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9400" y="4956720"/>
            <a:ext cx="3149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Члены «Общества Иисуса» — католического ордена, созданного для защиты папства, миссионерства и образования.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794420"/>
            <a:ext cx="200025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100" y="1794420"/>
            <a:ext cx="304800" cy="2667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9400" y="1794420"/>
            <a:ext cx="333375" cy="2667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4175670"/>
            <a:ext cx="266700" cy="266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100" y="4175670"/>
            <a:ext cx="266700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400" y="4175670"/>
            <a:ext cx="23812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1179165"/>
            <a:ext cx="5405437" cy="52502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Причины Реформации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30025" y="6515100"/>
            <a:ext cx="85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2346870"/>
            <a:ext cx="567570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Изменения в обществе XV–XVI вв.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906" y="2661493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95260" y="3185368"/>
            <a:ext cx="234029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CFAF6"/>
                </a:solidFill>
                <a:latin typeface="Cormorant Garamond"/>
              </a:rPr>
              <a:t>Важное примечание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7487" y="3652093"/>
            <a:ext cx="4795837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E0D6C8"/>
                </a:solidFill>
                <a:latin typeface="Montserrat"/>
              </a:rPr>
              <a:t>Реформация </a:t>
            </a:r>
            <a:r>
              <a:rPr b="1" sz="1275" i="0" u="none">
                <a:solidFill>
                  <a:srgbClr val="E0D6C8"/>
                </a:solidFill>
                <a:latin typeface="Montserrat"/>
              </a:rPr>
              <a:t>не была</a:t>
            </a:r>
            <a:r>
              <a:rPr b="0" sz="1275" i="0" u="none">
                <a:solidFill>
                  <a:srgbClr val="E0D6C8"/>
                </a:solidFill>
                <a:latin typeface="Montserrat"/>
              </a:rPr>
              <a:t> лишь протестом против продажи индульгенций. Торговля грамотами стала поводом для выступления Лютера, тогда как причины движения носили комплексный характер: </a:t>
            </a:r>
            <a:r>
              <a:rPr b="0" sz="1275" i="1" u="none">
                <a:solidFill>
                  <a:srgbClr val="E0D6C8"/>
                </a:solidFill>
                <a:latin typeface="Montserrat"/>
              </a:rPr>
              <a:t>религиозный, политический, социальный и экономический</a:t>
            </a:r>
            <a:r>
              <a:rPr b="0" sz="1275" i="0" u="none">
                <a:solidFill>
                  <a:srgbClr val="E0D6C8"/>
                </a:solidFill>
                <a:latin typeface="Montserrat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785020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Книгопечатание: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Сделало Библию и книги доступными для образованных мирян.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404145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Продажа индульгенций: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Обогащение церкви вызвало сильное возмущение в обществе.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23270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Церковные богатства: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Огромные земельные владения духовенства привлекали светских правителей.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642395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Политический фактор: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Стремление князей и королей ослабить зависимость от Папы Римского.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808833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427958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047083"/>
            <a:ext cx="1905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666208"/>
            <a:ext cx="1905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1518195"/>
            <a:ext cx="5405437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Учение Мартина Лютера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49075" y="6515100"/>
            <a:ext cx="66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2225426"/>
            <a:ext cx="567570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Ключевые идеи лютеранства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737" y="1537245"/>
            <a:ext cx="5367337" cy="4533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2663576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Спасение только верой: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Человек спасается искренней верой в Бога, а не покупкой индульгенций или обрядами.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282701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Авторитет Писания: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Единственный источник веры — Библия. Лютер лично перевёл её на немецкий язык.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901826"/>
            <a:ext cx="5119687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Отказ от посредников: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Священники не имеют превосходства над мирянами; монастыри и пышные обряды не нужны.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763839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Два таинства: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Сохранены только упоминаемые в Библии крещение и причастие.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687389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306514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925639"/>
            <a:ext cx="1238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787651"/>
            <a:ext cx="1905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179165"/>
            <a:ext cx="5405437" cy="525020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179165"/>
            <a:ext cx="5405437" cy="52502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Радикальная Реформация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39550" y="6515100"/>
            <a:ext cx="76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864965"/>
            <a:ext cx="521565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Томас Мюнцер и народ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236440"/>
            <a:ext cx="49672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Радикальное крыло Реформации связывало реформу церкви с полным переустройством общества.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807940"/>
            <a:ext cx="49672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D3531"/>
                </a:solidFill>
                <a:latin typeface="Montserrat"/>
              </a:rPr>
              <a:t>Идея:</a:t>
            </a:r>
            <a:r>
              <a:rPr b="0" sz="1200" i="0" u="none">
                <a:solidFill>
                  <a:srgbClr val="3D3531"/>
                </a:solidFill>
                <a:latin typeface="Montserrat"/>
              </a:rPr>
              <a:t> Установление «Царства Божьего» на земле, где власть принадлежит простому народу, а неравенство уничтожено.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379440"/>
            <a:ext cx="49672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Применение силы считалось допустимым, если мирный путь невозможен.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1762" y="1864965"/>
            <a:ext cx="521565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Крестьянская война (1524–1525)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1762" y="2236440"/>
            <a:ext cx="49672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Массовое восстание крестьян в Германии, обосновывавших свои требования Евангелием.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1762" y="2807940"/>
            <a:ext cx="49672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D3531"/>
                </a:solidFill>
                <a:latin typeface="Montserrat"/>
              </a:rPr>
              <a:t>Позиция Лютера:</a:t>
            </a:r>
            <a:r>
              <a:rPr b="0" sz="1200" i="0" u="none">
                <a:solidFill>
                  <a:srgbClr val="3D3531"/>
                </a:solidFill>
                <a:latin typeface="Montserrat"/>
              </a:rPr>
              <a:t> Лютер резко осудил повстанцев и Мюнцера, призвав власти к восстановлению порядка мирными средствами.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1762" y="3608040"/>
            <a:ext cx="49672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D3531"/>
                </a:solidFill>
                <a:latin typeface="Montserrat"/>
              </a:rPr>
              <a:t>Итог:</a:t>
            </a:r>
            <a:r>
              <a:rPr b="0" sz="1200" i="0" u="none">
                <a:solidFill>
                  <a:srgbClr val="3D3531"/>
                </a:solidFill>
                <a:latin typeface="Montserrat"/>
              </a:rPr>
              <a:t> Поражение народной Реформации и укрепление власти князей.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455390"/>
            <a:ext cx="3048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762" y="1455390"/>
            <a:ext cx="266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2746920"/>
            <a:ext cx="5405437" cy="2114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89695"/>
            <a:ext cx="5405437" cy="1619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899445"/>
            <a:ext cx="5405437" cy="1619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Появление протестантизма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39550" y="6515100"/>
            <a:ext cx="76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7293" y="3032670"/>
            <a:ext cx="2762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D4AF37"/>
                </a:solidFill>
                <a:latin typeface="Cormorant Garamon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93743" y="3718470"/>
            <a:ext cx="37433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D4AF37"/>
                </a:solidFill>
                <a:latin typeface="Montserrat"/>
              </a:rPr>
              <a:t>Религиозных лагеря в Германии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4243" y="4118520"/>
            <a:ext cx="3362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E0D6C8"/>
                </a:solidFill>
                <a:latin typeface="Montserrat"/>
              </a:rPr>
              <a:t>Север и Восток:</a:t>
            </a:r>
            <a:r>
              <a:rPr b="0" sz="1200" i="0" u="none">
                <a:solidFill>
                  <a:srgbClr val="E0D6C8"/>
                </a:solidFill>
                <a:latin typeface="Montserrat"/>
              </a:rPr>
              <a:t> Лютеранские княжества.</a:t>
            </a:r>
            <a:r>
              <a:t>
</a:t>
            </a:r>
            <a:r>
              <a:rPr b="1" sz="1200" i="0" u="none">
                <a:solidFill>
                  <a:srgbClr val="E0D6C8"/>
                </a:solidFill>
                <a:latin typeface="Montserrat"/>
              </a:rPr>
              <a:t>Юг и Запад:</a:t>
            </a:r>
            <a:r>
              <a:rPr b="0" sz="1200" i="0" u="none">
                <a:solidFill>
                  <a:srgbClr val="E0D6C8"/>
                </a:solidFill>
                <a:latin typeface="Montserrat"/>
              </a:rPr>
              <a:t> Католические земли.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2280195"/>
            <a:ext cx="5235654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A1525"/>
                </a:solidFill>
                <a:latin typeface="Cormorant Garamond"/>
              </a:rPr>
              <a:t>1529 г. — Рейхстаг в Шпейере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604045"/>
            <a:ext cx="498633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Католическое большинство потребовало запретить учение Лютера. Сторонники Реформации выразили протест («протестанты»), утверждая, что в делах веры нельзя навязывать мнение большинства.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4089945"/>
            <a:ext cx="5235654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A1525"/>
                </a:solidFill>
                <a:latin typeface="Cormorant Garamond"/>
              </a:rPr>
              <a:t>1555 г. — Аугсбургский мир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4413795"/>
            <a:ext cx="498633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Зафиксировал религиозный раскол в Германии. Утверждён принцип: </a:t>
            </a:r>
            <a:r>
              <a:rPr b="1" sz="1200" i="0" u="none">
                <a:solidFill>
                  <a:srgbClr val="3D3531"/>
                </a:solidFill>
                <a:latin typeface="Montserrat"/>
              </a:rPr>
              <a:t>«Чья власть, того и вера»</a:t>
            </a:r>
            <a:r>
              <a:rPr b="0" sz="1200" i="0" u="none">
                <a:solidFill>
                  <a:srgbClr val="3D3531"/>
                </a:solidFill>
                <a:latin typeface="Montserrat"/>
              </a:rPr>
              <a:t> (Cuius regio, eius religio). Князья получили право выбирать религию для своих подданных.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518195"/>
            <a:ext cx="5405437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Жан Кальвин и кальвинизм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39550" y="6515100"/>
            <a:ext cx="76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537245"/>
            <a:ext cx="5367337" cy="4533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2687" y="2356395"/>
            <a:ext cx="567570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Учение о предопределении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2794545"/>
            <a:ext cx="54054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Француз Жан Кальвин, обосновавшись в Женеве, издал в 1536 г. труд </a:t>
            </a:r>
            <a:r>
              <a:rPr b="0" sz="1200" i="1" u="none">
                <a:solidFill>
                  <a:srgbClr val="3D3531"/>
                </a:solidFill>
                <a:latin typeface="Montserrat"/>
              </a:rPr>
              <a:t>«Наставление в христианской вере»</a:t>
            </a:r>
            <a:r>
              <a:rPr b="0" sz="1200" i="0" u="none">
                <a:solidFill>
                  <a:srgbClr val="3D3531"/>
                </a:solidFill>
                <a:latin typeface="Montserrat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8437" y="3394620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Божественный выбор: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Бог заранее предопределил одних людей к спасению, а других — к погибели.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8437" y="4013745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Знаки избранности: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Успех в труде, бережливость и праведная жизнь служат признаками благоволения Бога.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8437" y="4632870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Аскетизм: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Суровый образ жизни, запрет пышных праздников, азартных игр и роскоши.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3418433"/>
            <a:ext cx="1333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4037558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7" y="4656683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87" y="1518195"/>
            <a:ext cx="5405437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Контрреформация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39550" y="6515100"/>
            <a:ext cx="76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2242095"/>
            <a:ext cx="5675709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4A1525"/>
                </a:solidFill>
                <a:latin typeface="Cormorant Garamond"/>
              </a:rPr>
              <a:t>Ответ Католической церкви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2680245"/>
            <a:ext cx="540543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Католическая церковь предприняла масштабные меры для борьбы с распространением протестантизма и внутреннего обновления.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737" y="1537245"/>
            <a:ext cx="5367337" cy="4533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508920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Тридентский собор (1545–1563):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Подтвердил основные догматы католицизма, но запретил продажу индульгенций.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128045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Индекс запрещённых книг: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Список произведений, чтение которых строго запрещалось католикам.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747170"/>
            <a:ext cx="511968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D3531"/>
                </a:solidFill>
                <a:latin typeface="Montserrat"/>
              </a:rPr>
              <a:t>Усиление инквизиции:</a:t>
            </a:r>
            <a:r>
              <a:rPr b="0" sz="1275" i="0" u="none">
                <a:solidFill>
                  <a:srgbClr val="3D3531"/>
                </a:solidFill>
                <a:latin typeface="Montserrat"/>
              </a:rPr>
              <a:t> Жестокое преследование еретиков и протестантов.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532733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151858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770983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289720"/>
            <a:ext cx="5476875" cy="3028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289720"/>
            <a:ext cx="5476875" cy="3028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Общество Иисуса и иезуиты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82400" y="6515100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051720"/>
            <a:ext cx="513064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Орден иезуитов (1540)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423195"/>
            <a:ext cx="4886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Основан </a:t>
            </a:r>
            <a:r>
              <a:rPr b="1" sz="1200" i="0" u="none">
                <a:solidFill>
                  <a:srgbClr val="3D3531"/>
                </a:solidFill>
                <a:latin typeface="Montserrat"/>
              </a:rPr>
              <a:t>Игнатием Лойолой</a:t>
            </a:r>
            <a:r>
              <a:rPr b="0" sz="1200" i="0" u="none">
                <a:solidFill>
                  <a:srgbClr val="3D3531"/>
                </a:solidFill>
                <a:latin typeface="Montserrat"/>
              </a:rPr>
              <a:t>. Орден строился на строжайшей дисциплине и беспрекословном подчинении Папе Римскому.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223295"/>
            <a:ext cx="4886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D3531"/>
                </a:solidFill>
                <a:latin typeface="Montserrat"/>
              </a:rPr>
              <a:t>Методы работы:</a:t>
            </a:r>
            <a:r>
              <a:rPr b="0" sz="1200" i="0" u="none">
                <a:solidFill>
                  <a:srgbClr val="3D3531"/>
                </a:solidFill>
                <a:latin typeface="Montserrat"/>
              </a:rPr>
              <a:t> Создание образцовых школ и коллегий, активное миссионерство в Азии и Америке, влияние на правителей Европы.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051720"/>
            <a:ext cx="513064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Реформа календаря (1582)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423195"/>
            <a:ext cx="4886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По инициативе Папы Григория XIII введён </a:t>
            </a:r>
            <a:r>
              <a:rPr b="1" sz="1200" i="0" u="none">
                <a:solidFill>
                  <a:srgbClr val="3D3531"/>
                </a:solidFill>
                <a:latin typeface="Montserrat"/>
              </a:rPr>
              <a:t>Григорианский календарь</a:t>
            </a:r>
            <a:r>
              <a:rPr b="0" sz="1200" i="0" u="none">
                <a:solidFill>
                  <a:srgbClr val="3D3531"/>
                </a:solidFill>
                <a:latin typeface="Montserrat"/>
              </a:rPr>
              <a:t> (новый стиль), заменивший устаревший юлианский.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223295"/>
            <a:ext cx="4886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Это продемонстрировало стремление Римско-католической церкви сохранять лидерство в науке и европейской культуре.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642145"/>
            <a:ext cx="333375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642145"/>
            <a:ext cx="23812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708820"/>
            <a:ext cx="3587650" cy="2190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025" y="2708820"/>
            <a:ext cx="3587799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325" y="2708820"/>
            <a:ext cx="3587650" cy="2190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Итоги эпохи Реформации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20500" y="6515100"/>
            <a:ext cx="95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C827A"/>
                </a:solidFill>
                <a:latin typeface="Montserrat Medium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3394620"/>
            <a:ext cx="33069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Раскол Европы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766095"/>
            <a:ext cx="3149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Европа окончательно разделилась на протестантский Север (лютеранство, кальвинизм, англиканство) и католический Юг.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100" y="3394620"/>
            <a:ext cx="330713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Религиозные войны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100" y="3766095"/>
            <a:ext cx="31496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Период жестоких внутренних и международных конфликтов (Французские религиозные войны, Тридцатилетняя война).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9400" y="3394620"/>
            <a:ext cx="33069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A1525"/>
                </a:solidFill>
                <a:latin typeface="Cormorant Garamond"/>
              </a:rPr>
              <a:t>Рост грамотности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9400" y="3766095"/>
            <a:ext cx="3149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Перевод Библии на национальные языки и развитие школьного образования подтолкнули развитие культуры и просвещения.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985045"/>
            <a:ext cx="3048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400" y="2985045"/>
            <a:ext cx="33337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730126"/>
            <a:ext cx="11144250" cy="1985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906589"/>
            <a:ext cx="11144250" cy="1781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3039814"/>
            <a:ext cx="10534650" cy="41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CFAF6"/>
                </a:solidFill>
                <a:latin typeface="Cormorant Garamond"/>
              </a:rPr>
              <a:t>Домашнее задание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01450" y="6515100"/>
            <a:ext cx="114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D4AF37"/>
                </a:solidFill>
                <a:latin typeface="Montserrat Medium"/>
              </a:rPr>
              <a:t>12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987301"/>
            <a:ext cx="21907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8675" y="2349251"/>
            <a:ext cx="1106138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F37"/>
                </a:solidFill>
                <a:latin typeface="Cormorant Garamond"/>
              </a:rPr>
              <a:t>Причинно-следственные цепочки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2720726"/>
            <a:ext cx="10534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CFAF6"/>
                </a:solidFill>
                <a:latin typeface="Montserrat"/>
              </a:rPr>
              <a:t>Составь </a:t>
            </a:r>
            <a:r>
              <a:rPr b="1" sz="1275" i="0" u="none">
                <a:solidFill>
                  <a:srgbClr val="FCFAF6"/>
                </a:solidFill>
                <a:latin typeface="Montserrat"/>
              </a:rPr>
              <a:t>3 цепочки</a:t>
            </a:r>
            <a:r>
              <a:rPr b="0" sz="1275" i="0" u="none">
                <a:solidFill>
                  <a:srgbClr val="FCFAF6"/>
                </a:solidFill>
                <a:latin typeface="Montserrat"/>
              </a:rPr>
              <a:t> по материалам параграфа по схеме: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4163764"/>
            <a:ext cx="197167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8675" y="4525714"/>
            <a:ext cx="1106138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F37"/>
                </a:solidFill>
                <a:latin typeface="Cormorant Garamond"/>
              </a:rPr>
              <a:t>Развёрнутый ответ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4897189"/>
            <a:ext cx="10534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CFAF6"/>
                </a:solidFill>
                <a:latin typeface="Montserrat"/>
              </a:rPr>
              <a:t>Ответь на вопрос: </a:t>
            </a:r>
            <a:r>
              <a:rPr b="1" sz="1275" i="0" u="none">
                <a:solidFill>
                  <a:srgbClr val="FCFAF6"/>
                </a:solidFill>
                <a:latin typeface="Montserrat"/>
              </a:rPr>
              <a:t>«Можно ли считать Реформацию только религиозным движением?»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5216276"/>
            <a:ext cx="10534650" cy="214312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0D6C8"/>
                </a:solidFill>
                <a:latin typeface="Montserrat"/>
              </a:rPr>
              <a:t>Объясни свой ответ в 2–3 предложениях, опираясь на факты параграфа.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5244851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3875" y="428625"/>
            <a:ext cx="11668125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4A1525"/>
                </a:solidFill>
                <a:latin typeface="Cormorant Garamond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3875" y="921990"/>
            <a:ext cx="11144250" cy="190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875" y="2087314"/>
            <a:ext cx="11144250" cy="11287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3875" y="3216026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875" y="3987551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3875" y="3206501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3875" y="3206501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3875" y="3978026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3875" y="3978026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3875" y="4749551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875" y="4749551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408783"/>
            <a:ext cx="857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19250" y="2230189"/>
            <a:ext cx="1004887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D3531"/>
                </a:solidFill>
                <a:latin typeface="Montserrat"/>
              </a:rPr>
              <a:t>https://blogger.googleusercontent.com/img/b/R29vZ2xl/AVvXsEiJDVutHHRg75eWnCkz1Uy1LbxBPl-_c__HQvTRflxLBw2hreyQLnxk0Smg7L5adPlYQxyvMsal1EB3OLYzEGWWxdhw_YSvotuJi8zx28H6t4iQVRbfmJP6uu3Ssqi_UDUCRLMstOwPZmc6/s1600/Lucas_Cranach_d.J._-_Reformationsaltar%252C_St._Marien_zu_Wittenberg%252C_Predella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9250" y="2835026"/>
            <a:ext cx="10048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Montserrat"/>
              </a:rPr>
              <a:t>pastormoeller.blogspot.com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358901"/>
            <a:ext cx="857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19250" y="3366045"/>
            <a:ext cx="10048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D3531"/>
                </a:solidFill>
                <a:latin typeface="Montserrat"/>
              </a:rPr>
              <a:t>https://collectionapi.metmuseum.org/api/collection/v1/iiif/436047/794999/main-image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9250" y="3599408"/>
            <a:ext cx="10048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Montserrat"/>
              </a:rPr>
              <a:t>www.metmuseum.org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130426"/>
            <a:ext cx="857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19250" y="4137570"/>
            <a:ext cx="10048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D3531"/>
                </a:solidFill>
                <a:latin typeface="Montserrat"/>
              </a:rPr>
              <a:t>https://museeprotestant.org/wp-content/uploads/2013/12/0000000654L.jpg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9250" y="4370933"/>
            <a:ext cx="10048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Montserrat"/>
              </a:rPr>
              <a:t>museeprotestant.org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901951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19250" y="4909095"/>
            <a:ext cx="10048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D3531"/>
                </a:solidFill>
                <a:latin typeface="Montserrat"/>
              </a:rPr>
              <a:t>https://cdn.britannica.com/71/189471-050-4E6A07D6/session-Council-of-Trent-Nicolo-Dorigati-Trento-1711.jpg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9250" y="5142458"/>
            <a:ext cx="10048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D3531"/>
                </a:solidFill>
                <a:latin typeface="Montserra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Montserrat"/>
              </a:rPr>
              <a:t>www.britannica.com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