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FBD13C-03A9-4958-BFFD-063F041DEE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54B1CCA-7E7E-43D4-B4D0-3FBE1F013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274777F-8A27-453C-8D3D-77A8B871E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1E3CD-0D2D-4C68-B89E-78FE92F889AF}" type="datetimeFigureOut">
              <a:rPr lang="ru-RU" smtClean="0"/>
              <a:t>05.09.2022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B07BC8-A33D-41E1-A172-CD85AC884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7E1DE2-E2EC-4AF5-97DF-957A84B73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7E985-F84B-42F4-BAF3-D15B0617E9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5284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F4C905-DC75-436A-A912-EF9E7D010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7A9672-84F4-44C1-92AF-674B05D40F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DF4BF1-7176-448D-AFA3-B72BCAB56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1E3CD-0D2D-4C68-B89E-78FE92F889AF}" type="datetimeFigureOut">
              <a:rPr lang="ru-RU" smtClean="0"/>
              <a:t>05.09.2022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E71DB5-08D6-42D4-870E-A5171021F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FA506F-16FD-4EC2-B102-6C2913B77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7E985-F84B-42F4-BAF3-D15B0617E9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9404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552AEC-867D-4006-B517-6BC4F693D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0427ED5-785F-495E-905D-A855B39133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9790878-38F6-41CB-9B47-51D200907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1E3CD-0D2D-4C68-B89E-78FE92F889AF}" type="datetimeFigureOut">
              <a:rPr lang="ru-RU" smtClean="0"/>
              <a:t>05.09.2022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2867C5-4418-462F-AFEF-1C5B7FB1C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161811B-E0D1-43CB-A3A6-631A5DDE2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7E985-F84B-42F4-BAF3-D15B0617E9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5337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20BE23-0ECF-4BCF-8786-8C922BC95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1B5DFE-F2A4-4ACB-A9B4-62CFD33E96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08C71DF-8A5E-44D6-AD79-A7F7DB4A56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BD4DEC1-DBCB-42B8-896B-37F4A190C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1E3CD-0D2D-4C68-B89E-78FE92F889AF}" type="datetimeFigureOut">
              <a:rPr lang="ru-RU" smtClean="0"/>
              <a:t>05.09.2022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2220483-67C2-4BDD-AA4C-AED125DCD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AA6F590-1E3B-4965-B49F-87F92317C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7E985-F84B-42F4-BAF3-D15B0617E9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8066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BC7E5E-C9CA-43D1-B084-6F75F95D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A6A6828-47B5-4F9A-A927-02D08C7EEA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40ED070-5FC0-4D3E-B73F-41D542E256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C9F9EC2-5BD1-435B-BCD2-291074D3B4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34732B6-440E-4975-9795-D9ED5BCCBF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E6514E3-BB17-4EE6-9ED9-4B49B17B8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1E3CD-0D2D-4C68-B89E-78FE92F889AF}" type="datetimeFigureOut">
              <a:rPr lang="ru-RU" smtClean="0"/>
              <a:t>05.09.2022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28FC0C3-EA54-4DBB-BE61-F3F4A8A8C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BB33EBF-BBB4-4B4C-96FA-D0BEA1540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7E985-F84B-42F4-BAF3-D15B0617E9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8148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A73B50-E291-4664-A109-8728E0E7D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2163F32-82F9-407B-BE08-19AA7AB69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1E3CD-0D2D-4C68-B89E-78FE92F889AF}" type="datetimeFigureOut">
              <a:rPr lang="ru-RU" smtClean="0"/>
              <a:t>05.09.2022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7748271-733E-4F24-BE9C-ED6002535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DFD950C-5FEC-46AB-B2B6-FA2DE292F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7E985-F84B-42F4-BAF3-D15B0617E9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4494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697C145-568D-4A83-AD44-C6C647857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1E3CD-0D2D-4C68-B89E-78FE92F889AF}" type="datetimeFigureOut">
              <a:rPr lang="ru-RU" smtClean="0"/>
              <a:t>05.09.2022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B79E9FC-76F0-486D-B48D-E95837A75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B0D214F-3BAD-40C6-89D8-C8B8C75D5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7E985-F84B-42F4-BAF3-D15B0617E9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6773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DE0BAE-6EEF-4005-BEC2-0910848D6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4BE1D6-90F7-4ADB-9440-D9A21EAFBD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9D2F954-0E13-4B83-9031-38A39EC1EF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00128CF-BE66-4F82-8125-C5D667CB2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1E3CD-0D2D-4C68-B89E-78FE92F889AF}" type="datetimeFigureOut">
              <a:rPr lang="ru-RU" smtClean="0"/>
              <a:t>05.09.2022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17D4058-3C29-4536-BE11-F516F1594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4501F06-DD4F-4D20-8702-D0AFF48EC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7E985-F84B-42F4-BAF3-D15B0617E9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6270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A136F6-9ACF-4332-8351-B30FFF10E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BB209E7-3296-41EF-B3A0-B668E8C159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D831009-8FC9-4142-9F8C-29F368AD6B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723B0F6-8E15-47F8-943E-D3BB07DF2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1E3CD-0D2D-4C68-B89E-78FE92F889AF}" type="datetimeFigureOut">
              <a:rPr lang="ru-RU" smtClean="0"/>
              <a:t>05.09.2022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ACBBB43-5974-40AB-A1D6-A64C454DE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D915A58-757C-47E7-8C1F-197BB20FE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7E985-F84B-42F4-BAF3-D15B0617E9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3841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5458D5-C080-4D86-B782-E71F0BC2F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E97E816-6299-48A2-94A6-E76FF2C85E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2B13A85-7CFD-4FE8-A1CD-70DACB6B0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1E3CD-0D2D-4C68-B89E-78FE92F889AF}" type="datetimeFigureOut">
              <a:rPr lang="ru-RU" smtClean="0"/>
              <a:t>05.09.2022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B286A8-97CA-4A7B-85C3-46B313900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6E78A88-6B01-4D0F-82A8-8807C70B6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7E985-F84B-42F4-BAF3-D15B0617E9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2329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F72F9F5-A24D-49B5-9833-0CB544C3AA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298193A-E96E-4792-ADED-0B95D4507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0016B50-6182-4C69-AB60-F6FCE5023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1E3CD-0D2D-4C68-B89E-78FE92F889AF}" type="datetimeFigureOut">
              <a:rPr lang="ru-RU" smtClean="0"/>
              <a:t>05.09.2022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F84D375-B607-4E6F-8A04-3C8AAD9BC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8BFC6C-AB58-4F9C-97E5-2DCA1837E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7E985-F84B-42F4-BAF3-D15B0617E9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6228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16FE40-C306-451B-ADA1-43336A894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01AC5BB-1138-473B-AEF8-E6AF44D516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A95366-921B-469B-B4AF-0B3BA16FA6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D1E3CD-0D2D-4C68-B89E-78FE92F889AF}" type="datetimeFigureOut">
              <a:rPr lang="ru-RU" smtClean="0"/>
              <a:t>05.09.2022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7E16496-5214-4E3F-B52C-9BD631EAFE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4D86BF-32D4-40DC-990A-CBEF002A93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97E985-F84B-42F4-BAF3-D15B0617E9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0319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D8EE12-5B17-46A6-80E4-37B4142012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Великие географические открытия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AC6C765-4195-45EE-902A-12173D0F7A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8209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383C5E-73DE-4158-87DE-E3223DAD2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Новые изобретения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AD155F-C56A-4FAB-A243-F86F1C58F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8298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885F90-4223-4A83-A6AD-F0E792C62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Новые источники энергии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3FFFEA-6E5A-48D3-A855-C3B6665A1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Уголь</a:t>
            </a:r>
          </a:p>
          <a:p>
            <a:r>
              <a:rPr lang="ru-RU" dirty="0"/>
              <a:t>Мельницы </a:t>
            </a:r>
          </a:p>
        </p:txBody>
      </p:sp>
      <p:pic>
        <p:nvPicPr>
          <p:cNvPr id="1026" name="Picture 2" descr="Каменный уголь — Википедия">
            <a:extLst>
              <a:ext uri="{FF2B5EF4-FFF2-40B4-BE49-F238E27FC236}">
                <a16:creationId xmlns:a16="http://schemas.microsoft.com/office/drawing/2014/main" id="{41F77AC7-C7EE-40FE-B427-D449D9F50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0896" y="395701"/>
            <a:ext cx="3633216" cy="2724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Ветряная мельница | Заповедник &quot;Аркаим&quot;">
            <a:extLst>
              <a:ext uri="{FF2B5EF4-FFF2-40B4-BE49-F238E27FC236}">
                <a16:creationId xmlns:a16="http://schemas.microsoft.com/office/drawing/2014/main" id="{4F242AE5-45FA-4C33-B2F8-C434A2744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6394" y="1524000"/>
            <a:ext cx="24003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ВОДЯНАЯ МЕЛЬНИЦА | это... Что такое ВОДЯНАЯ МЕЛЬНИЦА?">
            <a:extLst>
              <a:ext uri="{FF2B5EF4-FFF2-40B4-BE49-F238E27FC236}">
                <a16:creationId xmlns:a16="http://schemas.microsoft.com/office/drawing/2014/main" id="{508C7D45-1E5B-405A-8470-7BBB45AA08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1476" y="3350800"/>
            <a:ext cx="3667529" cy="350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97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683833-A8D4-41B9-9BEF-C6732A476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Токарный станок</a:t>
            </a:r>
          </a:p>
        </p:txBody>
      </p:sp>
      <p:pic>
        <p:nvPicPr>
          <p:cNvPr id="2050" name="Picture 2" descr="Токарный станок начала XIX века со столешницей - Музей Старинных  Инструментов">
            <a:extLst>
              <a:ext uri="{FF2B5EF4-FFF2-40B4-BE49-F238E27FC236}">
                <a16:creationId xmlns:a16="http://schemas.microsoft.com/office/drawing/2014/main" id="{110873F8-456B-42E3-AA85-914806E0EC2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0634" y="365124"/>
            <a:ext cx="3657102" cy="6144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8503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E6B3F6-5C4B-45F5-8982-431F7421C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Винтовой пресс</a:t>
            </a:r>
          </a:p>
        </p:txBody>
      </p:sp>
      <p:pic>
        <p:nvPicPr>
          <p:cNvPr id="3074" name="Picture 2" descr="Изготовление монет">
            <a:extLst>
              <a:ext uri="{FF2B5EF4-FFF2-40B4-BE49-F238E27FC236}">
                <a16:creationId xmlns:a16="http://schemas.microsoft.com/office/drawing/2014/main" id="{70E99DA1-3088-434F-BA29-FF21A4C6106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3864" y="216281"/>
            <a:ext cx="4634032" cy="617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8670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EF61A7-A3AE-46BD-8088-E5C773232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Появление книгопечатания</a:t>
            </a:r>
          </a:p>
        </p:txBody>
      </p:sp>
      <p:pic>
        <p:nvPicPr>
          <p:cNvPr id="4098" name="Picture 2" descr="История возникновения книгопечатания | Великие открытия человечества">
            <a:extLst>
              <a:ext uri="{FF2B5EF4-FFF2-40B4-BE49-F238E27FC236}">
                <a16:creationId xmlns:a16="http://schemas.microsoft.com/office/drawing/2014/main" id="{9196A71E-EE2B-401B-A221-A1BB12A997E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354" y="1399635"/>
            <a:ext cx="6195822" cy="4977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7913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B048CD-B051-4EE3-BDE3-941285641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Аристотель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29B985-8C7C-4E40-9768-1866503DC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7448" y="1825625"/>
            <a:ext cx="6626352" cy="4351338"/>
          </a:xfrm>
        </p:spPr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«Протяжённость моря между крайней точкой Испании и территорией Индии невелика и может быть преодолена в течение нескольких дней»</a:t>
            </a:r>
            <a:endParaRPr lang="ru-RU" dirty="0"/>
          </a:p>
        </p:txBody>
      </p:sp>
      <p:pic>
        <p:nvPicPr>
          <p:cNvPr id="5122" name="Picture 2" descr="Аристотель - биография, философия, факты">
            <a:extLst>
              <a:ext uri="{FF2B5EF4-FFF2-40B4-BE49-F238E27FC236}">
                <a16:creationId xmlns:a16="http://schemas.microsoft.com/office/drawing/2014/main" id="{643D2854-3AD2-49EB-B0A6-36FA6C5A81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90688"/>
            <a:ext cx="4212717" cy="5107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3127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C2FCC4-92C6-44A6-9635-9DBF618A0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Эратосфен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8BD03F-30FA-4E12-AE94-94E2FC228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1808" y="1825625"/>
            <a:ext cx="6031992" cy="4351338"/>
          </a:xfrm>
        </p:spPr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если держаться одной и той же широты, то можно с Пиренейского полуострова попасть в Индию, и по пути могут встретиться два или более обитаемых материка.</a:t>
            </a:r>
            <a:endParaRPr lang="ru-RU" dirty="0"/>
          </a:p>
        </p:txBody>
      </p:sp>
      <p:pic>
        <p:nvPicPr>
          <p:cNvPr id="6146" name="Picture 2" descr="Измерение Земли Эратосфеном и другие географические открытия">
            <a:extLst>
              <a:ext uri="{FF2B5EF4-FFF2-40B4-BE49-F238E27FC236}">
                <a16:creationId xmlns:a16="http://schemas.microsoft.com/office/drawing/2014/main" id="{5C9B8E4B-C7B0-4B09-958E-B027CF7BC2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089" y="1690688"/>
            <a:ext cx="3561016" cy="4245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0675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3FEDAD-7FC6-4B88-91BA-92111791F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Помпы и ворот</a:t>
            </a:r>
          </a:p>
        </p:txBody>
      </p:sp>
      <p:pic>
        <p:nvPicPr>
          <p:cNvPr id="7170" name="Picture 2" descr="Рис. 14. Средневековые механизмы для проветривания шахт | Средневековье,  Ностальгия, Тоскана">
            <a:extLst>
              <a:ext uri="{FF2B5EF4-FFF2-40B4-BE49-F238E27FC236}">
                <a16:creationId xmlns:a16="http://schemas.microsoft.com/office/drawing/2014/main" id="{9C7EF2EF-3E25-4540-B616-92F9DF6D179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7098" y="124841"/>
            <a:ext cx="3678734" cy="6208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Средневековый арабский водяной насос (Аль-Джазари, 13 век) - 3D-сцены -  Цифровое образование и обучение Мozaik">
            <a:extLst>
              <a:ext uri="{FF2B5EF4-FFF2-40B4-BE49-F238E27FC236}">
                <a16:creationId xmlns:a16="http://schemas.microsoft.com/office/drawing/2014/main" id="{91944E45-4F84-4544-B0CD-CF79FF05D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384" y="1939799"/>
            <a:ext cx="5542649" cy="30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665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C2EA0B-B1BE-4BB8-8315-848E29AA7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Использование вагонеток</a:t>
            </a:r>
          </a:p>
        </p:txBody>
      </p:sp>
      <p:sp>
        <p:nvSpPr>
          <p:cNvPr id="4" name="AutoShape 2" descr="Гром-камень. Могли ли передвинуть? - Исторический дискуссионный клуб - 21  сентября - 43217024424 - Медиаплатформа МирТесен">
            <a:extLst>
              <a:ext uri="{FF2B5EF4-FFF2-40B4-BE49-F238E27FC236}">
                <a16:creationId xmlns:a16="http://schemas.microsoft.com/office/drawing/2014/main" id="{5B7BD02F-115F-496C-B448-DC557907C4B5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8196" name="Picture 4" descr="Гром-камень. Могли ли передвинуть? - Исторический дискуссионный клуб - 21  сентября - 43217024424 - Медиаплатформа МирТесен">
            <a:extLst>
              <a:ext uri="{FF2B5EF4-FFF2-40B4-BE49-F238E27FC236}">
                <a16:creationId xmlns:a16="http://schemas.microsoft.com/office/drawing/2014/main" id="{E504523E-CB57-4B3B-9E7D-F312DA9F3D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6904" y="1517904"/>
            <a:ext cx="6300216" cy="4725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054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73CF3B-D499-46F3-9DD6-8E5B4B31E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Изменение в вооружении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8535C3-078B-428D-AA8E-88EEE83A5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9218" name="Picture 2" descr="рыцарь — Викисловарь">
            <a:extLst>
              <a:ext uri="{FF2B5EF4-FFF2-40B4-BE49-F238E27FC236}">
                <a16:creationId xmlns:a16="http://schemas.microsoft.com/office/drawing/2014/main" id="{F8D9C9E7-6163-4DF1-8839-F7D3D9773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636" y="1574864"/>
            <a:ext cx="3177540" cy="4782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Военная история XVI-XVII веков: Современные изображения русской пехоты">
            <a:extLst>
              <a:ext uri="{FF2B5EF4-FFF2-40B4-BE49-F238E27FC236}">
                <a16:creationId xmlns:a16="http://schemas.microsoft.com/office/drawing/2014/main" id="{58A5E4C4-C1C6-4E31-90CB-D81F63007F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9124" y="1574864"/>
            <a:ext cx="3224448" cy="503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1276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1C69DC-B654-47BB-B04C-EBDD4293F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Появление литого огнестрельного оружия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D765D10C-FF14-44F9-9A1B-53EC2D221F1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9325" y="1825625"/>
            <a:ext cx="8073350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53783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C7D680-EFD9-4F68-8BE1-9B6BC4C5A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Мушкет (1521 г)</a:t>
            </a:r>
          </a:p>
        </p:txBody>
      </p:sp>
      <p:pic>
        <p:nvPicPr>
          <p:cNvPr id="11266" name="Picture 2" descr="Nomen certe novum»: явление аркебузы и мушкета | Warspot.ru">
            <a:extLst>
              <a:ext uri="{FF2B5EF4-FFF2-40B4-BE49-F238E27FC236}">
                <a16:creationId xmlns:a16="http://schemas.microsoft.com/office/drawing/2014/main" id="{0E1AB2B6-4760-4B76-820F-8E2FD6747DC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5407" y="1825625"/>
            <a:ext cx="6161186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6467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58952B-B3F2-4236-A692-B82094D2F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Кремневые ружья</a:t>
            </a:r>
          </a:p>
        </p:txBody>
      </p:sp>
      <p:pic>
        <p:nvPicPr>
          <p:cNvPr id="12290" name="Picture 2" descr="Кремневое оружие. Пехотный вариант: борьба за дальность и меткость. От  массового выпуска до разнобоя калибров">
            <a:extLst>
              <a:ext uri="{FF2B5EF4-FFF2-40B4-BE49-F238E27FC236}">
                <a16:creationId xmlns:a16="http://schemas.microsoft.com/office/drawing/2014/main" id="{89B8B99E-776A-4CA9-A932-F4B40B019DC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886" y="1825625"/>
            <a:ext cx="989022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98407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C8A36F-E226-4E20-88FC-AE6984983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Мореплавание и кораблестроение</a:t>
            </a:r>
          </a:p>
        </p:txBody>
      </p:sp>
      <p:pic>
        <p:nvPicPr>
          <p:cNvPr id="13314" name="Picture 2" descr="Главная » Темы » Кораблестроение » Корабли XVII-XIX веков Корабли XVII-XIX  веков Суда, построенные в XVII в., обычно снабжались тремя мачтами,  дополненными марселями. Также на двух из них устанавливались брамсели, а  бизань-мачту">
            <a:extLst>
              <a:ext uri="{FF2B5EF4-FFF2-40B4-BE49-F238E27FC236}">
                <a16:creationId xmlns:a16="http://schemas.microsoft.com/office/drawing/2014/main" id="{C906318A-7DA5-4F0E-A813-3FBC70B09AC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593" y="1398302"/>
            <a:ext cx="7018181" cy="5240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69060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E54AC4-F7E9-421E-99BD-9FE2EB679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Компас и астролябия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DDBE7B-E4DA-431F-B406-09FA08A753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4338" name="Picture 2" descr="Стиль 17 Века Компас — стоковые фотографии и другие картинки Компас - Компас,  Прошлое, Старинный - iStock">
            <a:extLst>
              <a:ext uri="{FF2B5EF4-FFF2-40B4-BE49-F238E27FC236}">
                <a16:creationId xmlns:a16="http://schemas.microsoft.com/office/drawing/2014/main" id="{8A1EC028-24ED-4C66-8D68-33DF1D256D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616" y="1690688"/>
            <a:ext cx="4471416" cy="4407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 descr="Что такое астролябия кратко. Устройство. Разновидности.">
            <a:extLst>
              <a:ext uri="{FF2B5EF4-FFF2-40B4-BE49-F238E27FC236}">
                <a16:creationId xmlns:a16="http://schemas.microsoft.com/office/drawing/2014/main" id="{5ACABB60-92F3-4CB3-A426-13B981E4D3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0727" y="1841198"/>
            <a:ext cx="6523073" cy="4256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45924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93DCC2-A6CA-42B3-A8D6-2ECFDD7C4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Каравелла</a:t>
            </a:r>
          </a:p>
        </p:txBody>
      </p:sp>
      <p:pic>
        <p:nvPicPr>
          <p:cNvPr id="15362" name="Picture 2" descr="Шведская каравелла">
            <a:extLst>
              <a:ext uri="{FF2B5EF4-FFF2-40B4-BE49-F238E27FC236}">
                <a16:creationId xmlns:a16="http://schemas.microsoft.com/office/drawing/2014/main" id="{43A9228B-64FE-4D5D-ACA1-2BFC182AF8E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4984" y="1590675"/>
            <a:ext cx="7026331" cy="5175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40565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168EC9-9EE3-4EB2-8CBD-4FD825EB3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Галеон</a:t>
            </a:r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A7A7EC2A-8303-4940-9E7E-A902437C48D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9944" y="1481324"/>
            <a:ext cx="5204995" cy="3895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8" name="Picture 4" descr="Galion Heller 80835">
            <a:extLst>
              <a:ext uri="{FF2B5EF4-FFF2-40B4-BE49-F238E27FC236}">
                <a16:creationId xmlns:a16="http://schemas.microsoft.com/office/drawing/2014/main" id="{B4A29673-37C7-404E-B04F-DAA326DCA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783" y="1517892"/>
            <a:ext cx="4843273" cy="4843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94608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6EC977-4824-43CC-B744-A5A95397D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Появление новых карт</a:t>
            </a:r>
          </a:p>
        </p:txBody>
      </p:sp>
      <p:pic>
        <p:nvPicPr>
          <p:cNvPr id="17410" name="Picture 2" descr="Политические карты Европы XVII века — Картографический архив || старые карты">
            <a:extLst>
              <a:ext uri="{FF2B5EF4-FFF2-40B4-BE49-F238E27FC236}">
                <a16:creationId xmlns:a16="http://schemas.microsoft.com/office/drawing/2014/main" id="{AC25939F-6158-4669-90F6-C5ACCADFDCA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0182" y="1825625"/>
            <a:ext cx="6531636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04544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7B8B29-428E-4C63-9388-63BF711CA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Причины географических открытий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A8D4A6-1D8F-4F71-BB38-617C2972C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Развитие международной торговли</a:t>
            </a:r>
          </a:p>
          <a:p>
            <a:r>
              <a:rPr lang="ru-RU" dirty="0"/>
              <a:t>В результате крестовых походов установились связи со странами Востока</a:t>
            </a:r>
          </a:p>
          <a:p>
            <a:r>
              <a:rPr lang="ru-RU" dirty="0"/>
              <a:t>В Европе было мало драгоценных металлов</a:t>
            </a:r>
          </a:p>
          <a:p>
            <a:r>
              <a:rPr lang="ru-RU" dirty="0"/>
              <a:t>Возникала проблема перенаселенности</a:t>
            </a:r>
          </a:p>
          <a:p>
            <a:r>
              <a:rPr lang="ru-RU" dirty="0"/>
              <a:t>Желание получать товары в обход Османской империи.</a:t>
            </a:r>
          </a:p>
        </p:txBody>
      </p:sp>
    </p:spTree>
    <p:extLst>
      <p:ext uri="{BB962C8B-B14F-4D97-AF65-F5344CB8AC3E}">
        <p14:creationId xmlns:p14="http://schemas.microsoft.com/office/powerpoint/2010/main" val="17647751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1E1B8A-199E-4A37-B031-8C6FB4E41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Испания и Португалия</a:t>
            </a:r>
          </a:p>
        </p:txBody>
      </p:sp>
      <p:pic>
        <p:nvPicPr>
          <p:cNvPr id="18434" name="Picture 2" descr="Португалия и Испания в XVIII в - презентация онлайн">
            <a:extLst>
              <a:ext uri="{FF2B5EF4-FFF2-40B4-BE49-F238E27FC236}">
                <a16:creationId xmlns:a16="http://schemas.microsoft.com/office/drawing/2014/main" id="{CAA680DC-AD41-4383-BB49-4C1FDB68B5E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9685" y="1268476"/>
            <a:ext cx="6974947" cy="522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73692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7F957B-2B2D-4F85-9EBE-F6C8C3FAE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Генрих Мореплаватель (1394-1460)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48D56E-AA0C-48C8-9B79-1376B4FDF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5424" y="1825625"/>
            <a:ext cx="6818376" cy="4351338"/>
          </a:xfrm>
        </p:spPr>
        <p:txBody>
          <a:bodyPr/>
          <a:lstStyle/>
          <a:p>
            <a:r>
              <a:rPr lang="ru-RU" dirty="0"/>
              <a:t>Младший сын португальского короля. </a:t>
            </a:r>
          </a:p>
          <a:p>
            <a:r>
              <a:rPr lang="ru-RU" dirty="0"/>
              <a:t>Предложил доплыть до Индии морским путем. </a:t>
            </a:r>
          </a:p>
          <a:p>
            <a:r>
              <a:rPr lang="ru-RU" dirty="0"/>
              <a:t>Собрал вокруг себя известных моряков основал военный порт, обсерваторию и школу картографии. </a:t>
            </a:r>
          </a:p>
        </p:txBody>
      </p:sp>
      <p:pic>
        <p:nvPicPr>
          <p:cNvPr id="19458" name="Picture 2" descr="Генрих Мореплаватель — Википедия">
            <a:extLst>
              <a:ext uri="{FF2B5EF4-FFF2-40B4-BE49-F238E27FC236}">
                <a16:creationId xmlns:a16="http://schemas.microsoft.com/office/drawing/2014/main" id="{CB9289DB-C0B3-4CFA-9D01-48B04E9345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" y="1917573"/>
            <a:ext cx="260985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61932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86E3C1-B16B-4D6D-9046-94049780A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20482" name="Picture 2" descr="Маршрут Генриха (Энрике) Мореплавателя | Естествознание, Тамплиеры,  География">
            <a:extLst>
              <a:ext uri="{FF2B5EF4-FFF2-40B4-BE49-F238E27FC236}">
                <a16:creationId xmlns:a16="http://schemas.microsoft.com/office/drawing/2014/main" id="{DBFC25B2-D63C-4BD4-BBCB-FD1F76A4221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5665" y="0"/>
            <a:ext cx="4376959" cy="6739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4" name="Picture 4" descr="Азорские острова – регион Португалии в центре океана">
            <a:extLst>
              <a:ext uri="{FF2B5EF4-FFF2-40B4-BE49-F238E27FC236}">
                <a16:creationId xmlns:a16="http://schemas.microsoft.com/office/drawing/2014/main" id="{D58A0D2A-55B0-4632-BC62-6A80EE4F7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808" y="2864895"/>
            <a:ext cx="6458712" cy="3627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17750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9D22A3-9D33-41B3-A173-360333507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Бартоломеу</a:t>
            </a:r>
            <a:r>
              <a:rPr lang="ru-RU" dirty="0"/>
              <a:t> </a:t>
            </a:r>
            <a:r>
              <a:rPr lang="ru-RU" dirty="0" err="1"/>
              <a:t>Диаш</a:t>
            </a:r>
            <a:r>
              <a:rPr lang="ru-RU" dirty="0"/>
              <a:t> (1450-1500)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BBD1ED-8BB7-4C5F-B145-AF074ED9B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7920" y="1825625"/>
            <a:ext cx="5135880" cy="4351338"/>
          </a:xfrm>
        </p:spPr>
        <p:txBody>
          <a:bodyPr/>
          <a:lstStyle/>
          <a:p>
            <a:r>
              <a:rPr lang="ru-RU" dirty="0"/>
              <a:t>Достигает восточного побережья Африки. Однако поворачивает назад из-за бунта моряков.</a:t>
            </a:r>
          </a:p>
        </p:txBody>
      </p:sp>
      <p:pic>
        <p:nvPicPr>
          <p:cNvPr id="21506" name="Picture 2" descr="Бартоломео Диаш великий португальский мореплаватель - открыл Мыс Доброй  Надежды в 1488 г.">
            <a:extLst>
              <a:ext uri="{FF2B5EF4-FFF2-40B4-BE49-F238E27FC236}">
                <a16:creationId xmlns:a16="http://schemas.microsoft.com/office/drawing/2014/main" id="{BE9B838F-1540-402A-AD68-5DAA748F1D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028" y="1608015"/>
            <a:ext cx="3337179" cy="4486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08" name="Picture 4" descr="Экспедиция Бартоломеу Диаша — урок. География, 5 класс.">
            <a:extLst>
              <a:ext uri="{FF2B5EF4-FFF2-40B4-BE49-F238E27FC236}">
                <a16:creationId xmlns:a16="http://schemas.microsoft.com/office/drawing/2014/main" id="{42492007-4E8C-43BF-857F-141D948EBB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9545" y="3429000"/>
            <a:ext cx="3084650" cy="3502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7413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758781-696D-445A-97FC-05736206F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Васко да Гама (1469-1524)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498BF7-25F7-4457-BE73-BD6D84675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8112" y="1825625"/>
            <a:ext cx="5885688" cy="4351338"/>
          </a:xfrm>
        </p:spPr>
        <p:txBody>
          <a:bodyPr/>
          <a:lstStyle/>
          <a:p>
            <a:r>
              <a:rPr lang="ru-RU" dirty="0"/>
              <a:t>Снарядил 4 корабля, которые после 8 месяцев плаванья привел в Индийский порт.</a:t>
            </a:r>
          </a:p>
        </p:txBody>
      </p:sp>
      <p:pic>
        <p:nvPicPr>
          <p:cNvPr id="22530" name="Picture 2" descr="Васко да Гама и открытие морского пути в Индию — История географических  открытий">
            <a:extLst>
              <a:ext uri="{FF2B5EF4-FFF2-40B4-BE49-F238E27FC236}">
                <a16:creationId xmlns:a16="http://schemas.microsoft.com/office/drawing/2014/main" id="{0F7C59F0-B768-42B8-9F33-8E93A5720F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316927"/>
            <a:ext cx="3752088" cy="5139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2" name="Picture 4" descr="Экспедиция Васко да Гамы — урок. География, 5 класс.">
            <a:extLst>
              <a:ext uri="{FF2B5EF4-FFF2-40B4-BE49-F238E27FC236}">
                <a16:creationId xmlns:a16="http://schemas.microsoft.com/office/drawing/2014/main" id="{E3853D3A-1DEF-4516-B6A0-46B98A6732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4728" y="3053288"/>
            <a:ext cx="5422392" cy="3804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330572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199</Words>
  <Application>Microsoft Office PowerPoint</Application>
  <PresentationFormat>Широкоэкранный</PresentationFormat>
  <Paragraphs>38</Paragraphs>
  <Slides>25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Times New Roman</vt:lpstr>
      <vt:lpstr>Тема Office</vt:lpstr>
      <vt:lpstr>Великие географические открытия</vt:lpstr>
      <vt:lpstr>Новые изобретения</vt:lpstr>
      <vt:lpstr>Новые источники энергии</vt:lpstr>
      <vt:lpstr>Токарный станок</vt:lpstr>
      <vt:lpstr>Винтовой пресс</vt:lpstr>
      <vt:lpstr>Появление книгопечатания</vt:lpstr>
      <vt:lpstr>Аристотель</vt:lpstr>
      <vt:lpstr>Эратосфен</vt:lpstr>
      <vt:lpstr>Помпы и ворот</vt:lpstr>
      <vt:lpstr>Использование вагонеток</vt:lpstr>
      <vt:lpstr>Изменение в вооружении</vt:lpstr>
      <vt:lpstr>Появление литого огнестрельного оружия</vt:lpstr>
      <vt:lpstr>Мушкет (1521 г)</vt:lpstr>
      <vt:lpstr>Кремневые ружья</vt:lpstr>
      <vt:lpstr>Мореплавание и кораблестроение</vt:lpstr>
      <vt:lpstr>Компас и астролябия</vt:lpstr>
      <vt:lpstr>Каравелла</vt:lpstr>
      <vt:lpstr>Галеон</vt:lpstr>
      <vt:lpstr>Появление новых карт</vt:lpstr>
      <vt:lpstr>Причины географических открытий</vt:lpstr>
      <vt:lpstr>Испания и Португалия</vt:lpstr>
      <vt:lpstr>Генрих Мореплаватель (1394-1460)</vt:lpstr>
      <vt:lpstr>Презентация PowerPoint</vt:lpstr>
      <vt:lpstr>Бартоломеу Диаш (1450-1500)</vt:lpstr>
      <vt:lpstr>Васко да Гама (1469-1524)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Великие географические открытия</dc:title>
  <dc:creator>Андрей Алексеев</dc:creator>
  <cp:lastModifiedBy>Андрей Алексеев</cp:lastModifiedBy>
  <cp:revision>34</cp:revision>
  <dcterms:created xsi:type="dcterms:W3CDTF">2022-09-05T04:40:57Z</dcterms:created>
  <dcterms:modified xsi:type="dcterms:W3CDTF">2022-09-05T06:02:05Z</dcterms:modified>
</cp:coreProperties>
</file>