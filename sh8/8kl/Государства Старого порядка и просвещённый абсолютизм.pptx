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5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14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095089" cy="646176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333" y="1365051"/>
            <a:ext cx="2840384" cy="295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5637" y="4226123"/>
            <a:ext cx="4733925" cy="352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97091" y="1793676"/>
            <a:ext cx="8131016" cy="127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002"/>
              </a:lnSpc>
            </a:pPr>
            <a:r>
              <a:rPr sz="4350" b="0" i="0" u="none" dirty="0" err="1">
                <a:solidFill>
                  <a:srgbClr val="F8FAFC"/>
                </a:solidFill>
                <a:latin typeface="Playfair Display ExtraBold"/>
              </a:rPr>
              <a:t>Старый</a:t>
            </a:r>
            <a:r>
              <a:rPr sz="4350" b="0" i="0" u="none" dirty="0">
                <a:solidFill>
                  <a:srgbClr val="F8FAFC"/>
                </a:solidFill>
                <a:latin typeface="Playfair Display ExtraBold"/>
              </a:rPr>
              <a:t> </a:t>
            </a:r>
            <a:r>
              <a:rPr sz="4350" b="0" i="0" u="none" dirty="0" err="1">
                <a:solidFill>
                  <a:srgbClr val="F8FAFC"/>
                </a:solidFill>
                <a:latin typeface="Playfair Display ExtraBold"/>
              </a:rPr>
              <a:t>порядок</a:t>
            </a:r>
            <a:r>
              <a:rPr sz="4350" b="0" i="0" u="none" dirty="0">
                <a:solidFill>
                  <a:srgbClr val="F8FAFC"/>
                </a:solidFill>
                <a:latin typeface="Playfair Display ExtraBold"/>
              </a:rPr>
              <a:t> и</a:t>
            </a:r>
            <a:r>
              <a:rPr dirty="0"/>
              <a:t>
</a:t>
            </a:r>
            <a:r>
              <a:rPr sz="4350" b="0" i="0" u="none" dirty="0">
                <a:solidFill>
                  <a:srgbClr val="F8FAFC"/>
                </a:solidFill>
                <a:latin typeface="Playfair Display ExtraBold"/>
              </a:rPr>
              <a:t> </a:t>
            </a:r>
            <a:r>
              <a:rPr sz="4350" b="0" i="0" u="none" dirty="0" err="1">
                <a:solidFill>
                  <a:srgbClr val="F8FAFC"/>
                </a:solidFill>
                <a:latin typeface="Playfair Display ExtraBold"/>
              </a:rPr>
              <a:t>просвещённый</a:t>
            </a:r>
            <a:r>
              <a:rPr sz="4350" b="0" i="0" u="none" dirty="0">
                <a:solidFill>
                  <a:srgbClr val="F8FAFC"/>
                </a:solidFill>
                <a:latin typeface="Playfair Display ExtraBold"/>
              </a:rPr>
              <a:t> </a:t>
            </a:r>
            <a:r>
              <a:rPr sz="4350" b="0" i="0" u="none" dirty="0" err="1">
                <a:solidFill>
                  <a:srgbClr val="F8FAFC"/>
                </a:solidFill>
                <a:latin typeface="Playfair Display ExtraBold"/>
              </a:rPr>
              <a:t>абсолютизм</a:t>
            </a:r>
            <a:endParaRPr sz="4350" b="0" i="0" u="none" dirty="0">
              <a:solidFill>
                <a:srgbClr val="F8FAFC"/>
              </a:solidFill>
              <a:latin typeface="Playfair Display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76350" y="3254573"/>
            <a:ext cx="85725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Европа в XVIII веке: государственное устройство, монархии, республики и эпоха великих реформ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5208" y="1446014"/>
            <a:ext cx="120997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854993"/>
            <a:ext cx="2181373" cy="295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247775"/>
            <a:ext cx="53721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3400" y="2283618"/>
            <a:ext cx="564070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ayfair Display"/>
              </a:rPr>
              <a:t>Европа XVIII века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" y="1935956"/>
            <a:ext cx="140047" cy="13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2683668"/>
            <a:ext cx="51435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Преобладание монархий: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Большинство государств Европы — монархии (абсолютные и ограниченные).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283743"/>
            <a:ext cx="51435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Ведущие державы: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Франция, Габсбургская империя (Австрия), Великобритания, Пруссия, Россия.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883818"/>
            <a:ext cx="5143500" cy="1214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Особенности карты: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- Политическая раздробленность Германии (Священная Римская империя) и Италии.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- Выборная монархия в Речи Посполитой.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- Постепенный османский откат на Балканах.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25" y="1257300"/>
            <a:ext cx="5353050" cy="4552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3400" y="2645568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245643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3845718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Политическая карта Европы XVIII 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47775"/>
            <a:ext cx="5372100" cy="2933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247775"/>
            <a:ext cx="5372100" cy="2933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" y="1524000"/>
            <a:ext cx="2127051" cy="2952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725" y="1524000"/>
            <a:ext cx="2127051" cy="29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625" y="1952625"/>
            <a:ext cx="5060632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B45309"/>
                </a:solidFill>
                <a:latin typeface="Playfair Display"/>
              </a:rPr>
              <a:t>1. Монархии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333625"/>
            <a:ext cx="48196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Абсолютная монархия: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Власть короля широка, но ограничена традициями, судами, церковью и привилегиями сословий (Франция, Пруссия, Испания).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3176587"/>
            <a:ext cx="48196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Ограниченная монархия: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Великобритания (с 1707 г.). Власть ограничена Парламентом (Палата лордов и Палата общин). Избирательное право очень узкое.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725" y="1952625"/>
            <a:ext cx="5060632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B45309"/>
                </a:solidFill>
                <a:latin typeface="Playfair Display"/>
              </a:rPr>
              <a:t>2. Республики и Речь Посполитая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2333625"/>
            <a:ext cx="48196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Олигархические республики: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Нидерланды, Венеция, Генуя, Швейцария. Власть принадлежит узкому кругу знати (олигархии), а не народу.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725" y="3176587"/>
            <a:ext cx="48196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Речь Посполитая: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Выборная монархия. Сейм обладал огромными правами. Правило </a:t>
            </a:r>
            <a:r>
              <a:rPr sz="1275" b="0" i="1" u="none">
                <a:solidFill>
                  <a:srgbClr val="334155"/>
                </a:solidFill>
                <a:latin typeface="Inter"/>
              </a:rPr>
              <a:t>Liberum veto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(право вето) парализовало принятие законов.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1604962"/>
            <a:ext cx="140047" cy="1333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5600" y="1604962"/>
            <a:ext cx="140047" cy="133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Формы правления в XVIII веке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81137"/>
            <a:ext cx="3333750" cy="2362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350" y="1247775"/>
            <a:ext cx="4532114" cy="295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1862137"/>
            <a:ext cx="28765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8250" b="0" i="0" u="none">
                <a:solidFill>
                  <a:srgbClr val="F59E0B"/>
                </a:solidFill>
                <a:latin typeface="Playfair Display ExtraBold"/>
              </a:rPr>
              <a:t>XVIII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0513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E2E8F0"/>
                </a:solidFill>
                <a:latin typeface="Inter SemiBold"/>
              </a:rPr>
              <a:t>Век модернизации государств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7225" y="1328737"/>
            <a:ext cx="140047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52950" y="1676400"/>
            <a:ext cx="71056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Военные расходы: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Содержание постоянных армий и флота требовало колоссальных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2950" y="2276475"/>
            <a:ext cx="71056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Бюрократия и налоги: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Необходимость создания эффективной налоговой системы и чиновничьего аппарата.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2950" y="2876550"/>
            <a:ext cx="71056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Идеи Просвещения: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Распространение веры в разум, науку, законы и возможность рационального переустройства общества.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2950" y="3476625"/>
            <a:ext cx="71056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Единое право: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Замена устаревших местных кутюмов и феодальных судов общегосударственными законами.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4350" y="1638300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4350" y="2238375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4350" y="2838450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4350" y="3438525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Причины проведения реформ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401" y="1443037"/>
            <a:ext cx="2324248" cy="295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125200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97129" y="1871662"/>
            <a:ext cx="7530941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50" b="1" i="0" u="none">
                <a:solidFill>
                  <a:srgbClr val="FFFFFF"/>
                </a:solidFill>
                <a:latin typeface="Playfair Display"/>
              </a:rPr>
              <a:t>Просвещённый абсолютизм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1100" y="2976562"/>
            <a:ext cx="1143000" cy="381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752600" y="3243262"/>
            <a:ext cx="762000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Политика европейских монархов XVIII в., направленная на преобразование общества и государства на принципах философии Просвещения при сохранении ничем не ограниченной королевской власти.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276" y="1524000"/>
            <a:ext cx="111472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47775"/>
            <a:ext cx="3555950" cy="30718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50" y="1247775"/>
            <a:ext cx="3555950" cy="30718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2500" y="1247775"/>
            <a:ext cx="3555950" cy="30718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525" y="2057400"/>
            <a:ext cx="3079700" cy="2952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6075" y="2057400"/>
            <a:ext cx="3079700" cy="2952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625" y="2057400"/>
            <a:ext cx="3079700" cy="2952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1525" y="2486025"/>
            <a:ext cx="32336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layfair Display"/>
              </a:rPr>
              <a:t>Законы и суд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525" y="2867025"/>
            <a:ext cx="307970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Кодификация законов, ограничение или отмена пыток, отмена смертной казни за многие преступления, гуманизация суда.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6075" y="2486025"/>
            <a:ext cx="32336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layfair Display"/>
              </a:rPr>
              <a:t>Церковь и школа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6075" y="2867025"/>
            <a:ext cx="3079700" cy="1214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Секуляризация церковных земель, ограничение Инквизиции, введение веротерпимости, открытие начальных и профессиональных школ.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0625" y="2486025"/>
            <a:ext cx="32336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layfair Display"/>
              </a:rPr>
              <a:t>Экономика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0625" y="2867025"/>
            <a:ext cx="307970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Покровительство промышленности (меркантилизм), ликвидация внутренних таможен, поддержка торговли и аграрные реформы.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525" y="1524000"/>
            <a:ext cx="428625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6075" y="1524000"/>
            <a:ext cx="342900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40625" y="1524000"/>
            <a:ext cx="342900" cy="3429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Основные направления реформ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895" y="3887092"/>
            <a:ext cx="1925984" cy="295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2180332"/>
            <a:ext cx="5143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0"/>
              </a:lnSpc>
            </a:pPr>
            <a:r>
              <a:rPr sz="9000" b="0" i="0" u="none">
                <a:solidFill>
                  <a:srgbClr val="FDE68A"/>
                </a:solidFill>
                <a:latin typeface="Playfair Display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900" y="2561332"/>
            <a:ext cx="8620125" cy="506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990"/>
              </a:lnSpc>
            </a:pPr>
            <a:r>
              <a:rPr sz="2850" b="0" i="0" u="none">
                <a:solidFill>
                  <a:srgbClr val="0F172A"/>
                </a:solidFill>
                <a:latin typeface="Playfair Display"/>
              </a:rPr>
              <a:t>«Всё для народа, но ничего посредством народа.»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95500" y="3353692"/>
            <a:ext cx="66389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B45309"/>
                </a:solidFill>
                <a:latin typeface="Inter"/>
              </a:rPr>
              <a:t>— Формула просвещённого деспотизма (Иосиф II, Фридрих 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4962" y="4315717"/>
            <a:ext cx="762000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Реформы проводились сверху силой монарха. Правители стремились сделать государство эффективным, но не собирались делиться властью с народом или превращать монархию в демократию.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770" y="3968055"/>
            <a:ext cx="140047" cy="133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Противоречие «просвещённого деспотизма»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916906"/>
            <a:ext cx="2181373" cy="295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247775"/>
            <a:ext cx="5372100" cy="419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3400" y="2345531"/>
            <a:ext cx="564070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B45309"/>
                </a:solidFill>
                <a:latin typeface="Playfair Display"/>
              </a:rPr>
              <a:t>Карл III (1759–1788)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" y="1997868"/>
            <a:ext cx="140047" cy="13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2726531"/>
            <a:ext cx="51435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Ограничение церкви: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Изгнал орден иезуитов из страны (1767 г.) и подчинил Инквизицию королевскому суду.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326606"/>
            <a:ext cx="51435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Модернизация: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Благоустройство Мадрида, развитие флота, поддержка торговли и образования.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926681"/>
            <a:ext cx="51435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Восстание Эскилаче (1766 г.):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Бунт жителей Мадрида против министра Леопольдо де Эскилаче из-за запрета традиционных длинных плащей и шляп-сомбреро.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25" y="1257300"/>
            <a:ext cx="5353050" cy="4171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3400" y="2688431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288506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3888581"/>
            <a:ext cx="133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D97706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Реформы Карла III в Испании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47775"/>
            <a:ext cx="2181373" cy="295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457200"/>
            <a:ext cx="564070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Маркиз де Помбал в Португалии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90600"/>
            <a:ext cx="53721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1676400"/>
            <a:ext cx="564070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layfair Display"/>
              </a:rPr>
              <a:t>Себастьян Помбал (1750–1777)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057400"/>
            <a:ext cx="53721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Лиссабонское землетрясение 1755 г.: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Ужасное катастрофическое разрушение столицы дало Помбалу повод взяться за полные реформы и перестройку страны.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786062"/>
            <a:ext cx="5372100" cy="1214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Основные преобразования: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• Изгнание иезуитов из Португалии (1759 г.).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• Реформа Университета Коимбры (введение естественных наук). </a:t>
            </a:r>
            <a:r>
              <a:t>
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• Создание монопольных торговых компаний и развитие мануфактур.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" y="1328737"/>
            <a:ext cx="140047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47775"/>
            <a:ext cx="3672036" cy="295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" y="1328737"/>
            <a:ext cx="140047" cy="13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3400" y="1771650"/>
            <a:ext cx="11125200" cy="280987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3400" y="1771650"/>
          <a:ext cx="11115674" cy="2809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1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ayfair Display"/>
                        </a:rPr>
                        <a:t>Правитель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ayfair Display"/>
                        </a:rPr>
                        <a:t>Страна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ayfair Display"/>
                        </a:rPr>
                        <a:t>Ключевые реформы и достижения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Inter"/>
                        </a:rPr>
                        <a:t>Фридрих II Великий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Пруссия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Отмена пыток, веротерпимость, обязательное начальное обучение, кодификация законов.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Inter"/>
                        </a:rPr>
                        <a:t>Иосиф II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Австрия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Отмена личной зависимости крестьян, секуляризация, равенство всех перед законом.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Inter"/>
                        </a:rPr>
                        <a:t>Карл III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Испания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Изгнание иезуитов, ограничение инквизиции, модернизация флота и столицы.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Inter"/>
                        </a:rPr>
                        <a:t>Екатерина II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Россия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Inter"/>
                        </a:rPr>
                        <a:t>Уложенная комиссия, Жалованные грамоты дворянству и городам, школьная реформа.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38162" y="2338387"/>
            <a:ext cx="207496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13124" y="2338387"/>
            <a:ext cx="10987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711922" y="2338387"/>
            <a:ext cx="79419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8162" y="2895600"/>
            <a:ext cx="207496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13124" y="2895600"/>
            <a:ext cx="10987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711922" y="2895600"/>
            <a:ext cx="79419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8162" y="3452812"/>
            <a:ext cx="207496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613124" y="3452812"/>
            <a:ext cx="10987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711922" y="3452812"/>
            <a:ext cx="79419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8162" y="4010025"/>
            <a:ext cx="207496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13124" y="4010025"/>
            <a:ext cx="10987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711922" y="4010025"/>
            <a:ext cx="79419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Просвещённый абсолютизм в лицах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247775"/>
            <a:ext cx="107442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Старый порядок (Ancien Régime):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Социально-политическая система европейских государств XVIII в. до Французской революции.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33575"/>
            <a:ext cx="107442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Просвещённый абсолютизм: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Политика монархов XVIII в., использовавших идеи Просвещения для модернизации государства сверху.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19375"/>
            <a:ext cx="107442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Олигархия: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Политический порядок, при котором власть сосредоточена в руках узкой группы знатных или богатых людей.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48000"/>
            <a:ext cx="107442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Liberum veto («свободное вето»):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Право любого депутата Сейма Речи Посполитой единолично заблокировать решение парламента.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62062"/>
            <a:ext cx="180975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947862"/>
            <a:ext cx="238125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633662"/>
            <a:ext cx="26670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062287"/>
            <a:ext cx="209550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Словарь понятий (в тетрадь)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21694" y="245204"/>
            <a:ext cx="10895391" cy="5632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Выполнить письменно, ориентировочно за </a:t>
            </a:r>
            <a:r>
              <a:rPr kumimoji="0" lang="ru-RU" altLang="ru-RU" sz="2800" b="1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15–20 минут</a:t>
            </a: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.</a:t>
            </a:r>
            <a:endParaRPr kumimoji="0" lang="ru-RU" alt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Объясните своими словами, что такое </a:t>
            </a:r>
            <a:r>
              <a:rPr kumimoji="0" lang="ru-RU" altLang="ru-RU" sz="2800" b="1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просвещённый абсолютизм</a:t>
            </a: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. Используйте в объяснении два признака.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Заполните мини-таблицу:</a:t>
            </a:r>
            <a:endParaRPr kumimoji="0" lang="en-US" altLang="ru-RU" sz="28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kumimoji="0" lang="en-US" altLang="ru-RU" sz="12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kumimoji="0" lang="en-US" altLang="ru-RU" sz="12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 smtClean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ru-RU" sz="12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ru-RU" sz="1200" dirty="0">
              <a:solidFill>
                <a:srgbClr val="1F2328"/>
              </a:solidFill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kumimoji="0" lang="en-US" altLang="ru-RU" sz="12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kumimoji="0" lang="en-US" altLang="ru-RU" sz="12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kumimoji="0" lang="ru-RU" altLang="ru-RU" sz="20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28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Ответьте на вопрос в 3–4 предложениях: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800" b="1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Почему просвещённый абсолютизм нельзя считать демократией?</a:t>
            </a:r>
            <a:endParaRPr kumimoji="0" lang="ru-RU" altLang="ru-RU" sz="2800" b="0" i="0" u="none" strike="noStrike" cap="none" normalizeH="0" baseline="0" dirty="0" smtClean="0">
              <a:ln>
                <a:noFill/>
              </a:ln>
              <a:solidFill>
                <a:srgbClr val="1F2328"/>
              </a:solidFill>
              <a:effectLst/>
              <a:latin typeface="Mona Sans V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358048"/>
              </p:ext>
            </p:extLst>
          </p:nvPr>
        </p:nvGraphicFramePr>
        <p:xfrm>
          <a:off x="923108" y="2369729"/>
          <a:ext cx="7354390" cy="1165860"/>
        </p:xfrm>
        <a:graphic>
          <a:graphicData uri="http://schemas.openxmlformats.org/drawingml/2006/table">
            <a:tbl>
              <a:tblPr/>
              <a:tblGrid>
                <a:gridCol w="3677195">
                  <a:extLst>
                    <a:ext uri="{9D8B030D-6E8A-4147-A177-3AD203B41FA5}">
                      <a16:colId xmlns:a16="http://schemas.microsoft.com/office/drawing/2014/main" val="3207527502"/>
                    </a:ext>
                  </a:extLst>
                </a:gridCol>
                <a:gridCol w="3677195">
                  <a:extLst>
                    <a:ext uri="{9D8B030D-6E8A-4147-A177-3AD203B41FA5}">
                      <a16:colId xmlns:a16="http://schemas.microsoft.com/office/drawing/2014/main" val="1663359361"/>
                    </a:ext>
                  </a:extLst>
                </a:gridCol>
              </a:tblGrid>
              <a:tr h="236379"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</a:rPr>
                        <a:t>Правитель/страна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</a:rPr>
                        <a:t>Пример реформы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48718"/>
                  </a:ext>
                </a:extLst>
              </a:tr>
              <a:tr h="236379"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Карл </a:t>
                      </a:r>
                      <a:r>
                        <a:rPr lang="en-US" dirty="0">
                          <a:effectLst/>
                        </a:rPr>
                        <a:t>III, </a:t>
                      </a:r>
                      <a:r>
                        <a:rPr lang="ru-RU" dirty="0">
                          <a:effectLst/>
                        </a:rPr>
                        <a:t>Испания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 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390948"/>
                  </a:ext>
                </a:extLst>
              </a:tr>
              <a:tr h="236379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Помбал, Португалия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 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1464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3906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2488406"/>
            <a:ext cx="8572500" cy="3028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5676" y="1340643"/>
            <a:ext cx="5180647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50" b="1" i="0" u="none">
                <a:solidFill>
                  <a:srgbClr val="0F172A"/>
                </a:solidFill>
                <a:latin typeface="Playfair Display"/>
              </a:rPr>
              <a:t>Вопросы для самопроверки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90937" y="2016918"/>
            <a:ext cx="481012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912"/>
              </a:lnSpc>
            </a:pPr>
            <a:r>
              <a:rPr sz="1275" b="0" i="0" u="none">
                <a:solidFill>
                  <a:srgbClr val="64748B"/>
                </a:solidFill>
                <a:latin typeface="Inter"/>
              </a:rPr>
              <a:t>Проверьте, насколько хорошо вы усвоили материал урока: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0275" y="2762250"/>
            <a:ext cx="114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E293B"/>
                </a:solidFill>
                <a:latin typeface="Inter SemiBold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14575" y="2764631"/>
            <a:ext cx="7791450" cy="485775"/>
          </a:xfrm>
          <a:prstGeom prst="rect">
            <a:avLst/>
          </a:prstGeom>
          <a:noFill/>
        </p:spPr>
        <p:txBody>
          <a:bodyPr wrap="square" lIns="11430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Чем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абсолютная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монархия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XVIII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века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отличалась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от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произвольной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неограниченной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деспотии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?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Какие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факторы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ограничивали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 </a:t>
            </a:r>
            <a:r>
              <a:rPr sz="1275" b="0" i="0" u="none" dirty="0" err="1">
                <a:solidFill>
                  <a:srgbClr val="1E293B"/>
                </a:solidFill>
                <a:latin typeface="Inter SemiBold"/>
              </a:rPr>
              <a:t>монарха</a:t>
            </a:r>
            <a:r>
              <a:rPr sz="1275" b="0" i="0" u="none" dirty="0">
                <a:solidFill>
                  <a:srgbClr val="1E293B"/>
                </a:solidFill>
                <a:latin typeface="Inter SemiBold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75" y="3381375"/>
            <a:ext cx="152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E293B"/>
                </a:solidFill>
                <a:latin typeface="Inter SemiBold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4575" y="3383756"/>
            <a:ext cx="7791450" cy="48577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1E293B"/>
                </a:solidFill>
                <a:latin typeface="Inter SemiBold"/>
              </a:rPr>
              <a:t>Почему Великобританию XVIII века нельзя считать современной демократией, несмотря на наличие Парламента?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2175" y="4000500"/>
            <a:ext cx="152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E293B"/>
                </a:solidFill>
                <a:latin typeface="Inter SemiBold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4575" y="4002881"/>
            <a:ext cx="7791450" cy="48577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1E293B"/>
                </a:solidFill>
                <a:latin typeface="Inter SemiBold"/>
              </a:rPr>
              <a:t>Какое политическое правило стало одной из главных причин ослабления и последующего упадка Речи Посполитой?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4619625"/>
            <a:ext cx="14287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E293B"/>
                </a:solidFill>
                <a:latin typeface="Inter SemiBold"/>
              </a:rP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4575" y="4622006"/>
            <a:ext cx="7791450" cy="485775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1E293B"/>
                </a:solidFill>
                <a:latin typeface="Inter SemiBold"/>
              </a:rPr>
              <a:t>Почему монархи европейских стран проводили реформы «просвещённого абсолютизма», но не стремились дать народу свободу?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1247775"/>
            <a:ext cx="57340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3400" y="2019300"/>
            <a:ext cx="573405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3400" y="2009775"/>
            <a:ext cx="57340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3400" y="2009775"/>
            <a:ext cx="57340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2781300"/>
            <a:ext cx="57340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3400" y="2781300"/>
            <a:ext cx="57340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390650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8775" y="1397793"/>
            <a:ext cx="46386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Inter"/>
              </a:rPr>
              <a:t>http://geocurrents.info/wp-content/uploads/2011/04/Europe-1700-Euratlas.jpg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8775" y="1631156"/>
            <a:ext cx="46386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www.geocurrents.info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162175"/>
            <a:ext cx="857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28775" y="2169318"/>
            <a:ext cx="46386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Inter"/>
              </a:rPr>
              <a:t>https://www.superstock.com/cdn/1746/Comp/1746-21121167.webp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8775" y="2402681"/>
            <a:ext cx="46386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www.superstock.com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933700"/>
            <a:ext cx="857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28775" y="2940843"/>
            <a:ext cx="46386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Inter"/>
              </a:rPr>
              <a:t>https://aroundprague.cz/assets/images/resources/45358/cover.jpg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8775" y="3174206"/>
            <a:ext cx="46386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aroundprague.cz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457200"/>
            <a:ext cx="116586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layfair Display"/>
              </a:rPr>
              <a:t>Image Sources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990600"/>
            <a:ext cx="111252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840</Words>
  <Application>Microsoft Office PowerPoint</Application>
  <PresentationFormat>Широкоэкранный</PresentationFormat>
  <Paragraphs>115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Calibri</vt:lpstr>
      <vt:lpstr>Inter</vt:lpstr>
      <vt:lpstr>Inter SemiBold</vt:lpstr>
      <vt:lpstr>Mona Sans VF</vt:lpstr>
      <vt:lpstr>Playfair Display</vt:lpstr>
      <vt:lpstr>Playfair Display ExtraBold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Андрей Николаевич</cp:lastModifiedBy>
  <cp:revision>3</cp:revision>
  <dcterms:created xsi:type="dcterms:W3CDTF">2013-01-27T09:14:16Z</dcterms:created>
  <dcterms:modified xsi:type="dcterms:W3CDTF">2026-09-08T02:50:04Z</dcterms:modified>
  <cp:category/>
</cp:coreProperties>
</file>