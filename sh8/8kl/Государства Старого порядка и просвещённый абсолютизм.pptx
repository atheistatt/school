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095089" cy="64617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333" y="1365051"/>
            <a:ext cx="2840384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637" y="4226123"/>
            <a:ext cx="4733925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7091" y="1793676"/>
            <a:ext cx="8131016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0" i="0" u="none" dirty="0" err="1">
                <a:solidFill>
                  <a:srgbClr val="F8FAFC"/>
                </a:solidFill>
                <a:latin typeface="Playfair Display ExtraBold"/>
              </a:rPr>
              <a:t>Старый</a:t>
            </a:r>
            <a:r>
              <a:rPr sz="4350" b="0" i="0" u="none" dirty="0">
                <a:solidFill>
                  <a:srgbClr val="F8FAFC"/>
                </a:solidFill>
                <a:latin typeface="Playfair Display ExtraBold"/>
              </a:rPr>
              <a:t> </a:t>
            </a:r>
            <a:r>
              <a:rPr sz="4350" b="0" i="0" u="none" dirty="0" err="1">
                <a:solidFill>
                  <a:srgbClr val="F8FAFC"/>
                </a:solidFill>
                <a:latin typeface="Playfair Display ExtraBold"/>
              </a:rPr>
              <a:t>порядок</a:t>
            </a:r>
            <a:r>
              <a:rPr sz="4350" b="0" i="0" u="none" dirty="0">
                <a:solidFill>
                  <a:srgbClr val="F8FAFC"/>
                </a:solidFill>
                <a:latin typeface="Playfair Display ExtraBold"/>
              </a:rPr>
              <a:t> и</a:t>
            </a:r>
            <a:r>
              <a:rPr dirty="0"/>
              <a:t>
</a:t>
            </a:r>
            <a:r>
              <a:rPr sz="4350" b="0" i="0" u="none" dirty="0">
                <a:solidFill>
                  <a:srgbClr val="F8FAFC"/>
                </a:solidFill>
                <a:latin typeface="Playfair Display ExtraBold"/>
              </a:rPr>
              <a:t> </a:t>
            </a:r>
            <a:r>
              <a:rPr sz="4350" b="0" i="0" u="none" dirty="0" err="1">
                <a:solidFill>
                  <a:srgbClr val="F8FAFC"/>
                </a:solidFill>
                <a:latin typeface="Playfair Display ExtraBold"/>
              </a:rPr>
              <a:t>просвещённый</a:t>
            </a:r>
            <a:r>
              <a:rPr sz="4350" b="0" i="0" u="none" dirty="0">
                <a:solidFill>
                  <a:srgbClr val="F8FAFC"/>
                </a:solidFill>
                <a:latin typeface="Playfair Display ExtraBold"/>
              </a:rPr>
              <a:t> </a:t>
            </a:r>
            <a:r>
              <a:rPr sz="4350" b="0" i="0" u="none" dirty="0" err="1">
                <a:solidFill>
                  <a:srgbClr val="F8FAFC"/>
                </a:solidFill>
                <a:latin typeface="Playfair Display ExtraBold"/>
              </a:rPr>
              <a:t>абсолютизм</a:t>
            </a:r>
            <a:endParaRPr sz="4350" b="0" i="0" u="none" dirty="0">
              <a:solidFill>
                <a:srgbClr val="F8FAFC"/>
              </a:solidFill>
              <a:latin typeface="Playfair Display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76350" y="3254573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Европа в XVIII веке: государственное устройство, монархии, республики и эпоха великих реформ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208" y="1446014"/>
            <a:ext cx="12099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54993"/>
            <a:ext cx="2610394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47775"/>
            <a:ext cx="53721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283618"/>
            <a:ext cx="56407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ayfair Display"/>
              </a:rPr>
              <a:t>Европа XVIII века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935956"/>
            <a:ext cx="140047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683668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Преобладание монархий: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Большинство государств Европы — монархии (абсолютные и ограниченные).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83743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Ведущие державы: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Франция, Габсбургская империя (Австрия), Великобритания, Пруссия, Россия.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83818"/>
            <a:ext cx="51435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Особенности карты: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- Политическая раздробленность Германии (Священная Римская империя) и Италии.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- Выборная монархия в Речи Посполитой.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- Постепенный османский откат на Балканах.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257300"/>
            <a:ext cx="5353050" cy="4552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2645568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245643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845718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Политическая карта Европы XVIII 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5372100" cy="2933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47775"/>
            <a:ext cx="5372100" cy="2933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524000"/>
            <a:ext cx="2508051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725" y="1524000"/>
            <a:ext cx="2424521" cy="29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1952625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45309"/>
                </a:solidFill>
                <a:latin typeface="Playfair Display"/>
              </a:rPr>
              <a:t>1. Монархии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333625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Абсолютная монархия: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Власть короля широка, но ограничена традициями, судами, церковью и привилегиями сословий (Франция, Пруссия, Испания).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176587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Ограниченная монархия: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Великобритания (с 1707 г.). Власть ограничена Парламентом (Палата лордов и Палата общин). Избирательное право очень узкое.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1952625"/>
            <a:ext cx="50606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45309"/>
                </a:solidFill>
                <a:latin typeface="Playfair Display"/>
              </a:rPr>
              <a:t>2. Республики и Речь Посполитая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333625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Олигархические республики: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Нидерланды, Венеция, Генуя, Швейцария. Власть принадлежит узкому кругу знати (олигархии), а не народу.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176587"/>
            <a:ext cx="4819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Речь Посполитая: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Выборная монархия. Сейм обладал огромными правами. Правило </a:t>
            </a:r>
            <a:r>
              <a:rPr sz="1275" b="0" i="1" u="none">
                <a:solidFill>
                  <a:srgbClr val="334155"/>
                </a:solidFill>
                <a:latin typeface="Inter"/>
              </a:rPr>
              <a:t>Liberum veto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(право вето) парализовало принятие законов.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1604962"/>
            <a:ext cx="140047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1604962"/>
            <a:ext cx="140047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Формы правления в XVIII веке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81137"/>
            <a:ext cx="333375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49" y="1247775"/>
            <a:ext cx="5316039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862137"/>
            <a:ext cx="28765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F59E0B"/>
                </a:solidFill>
                <a:latin typeface="Playfair Display ExtraBold"/>
              </a:rPr>
              <a:t>XVIII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05137"/>
            <a:ext cx="2876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2E8F0"/>
                </a:solidFill>
                <a:latin typeface="Inter SemiBold"/>
              </a:rPr>
              <a:t>Век модернизации государств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225" y="1328737"/>
            <a:ext cx="140047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52950" y="1676400"/>
            <a:ext cx="71056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Военные расходы: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Содержание постоянных армий и флота требовало колоссальных денег.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950" y="2276475"/>
            <a:ext cx="71056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Бюрократия и налоги: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Необходимость создания эффективной налоговой системы и чиновничьего аппарата.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2950" y="2876550"/>
            <a:ext cx="71056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Идеи Просвещения: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Распространение веры в разум, науку, законы и возможность рационального переустройства общества.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3476625"/>
            <a:ext cx="71056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Единое право: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Замена устаревших местных кутюмов и феодальных судов общегосударственными законами.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350" y="163830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4350" y="22383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4350" y="28384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350" y="34385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Причины проведения реформ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125200" cy="5943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401" y="1443037"/>
            <a:ext cx="2662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7129" y="1871662"/>
            <a:ext cx="7530941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FFFFF"/>
                </a:solidFill>
                <a:latin typeface="Playfair Display"/>
              </a:rPr>
              <a:t>Просвещённый абсолютизм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1100" y="2976562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52600" y="3243262"/>
            <a:ext cx="762000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Политика европейских монархов XVIII в., направленная на преобразование общества и государства на принципах философии Просвещения при сохранении ничем не ограниченной королевской власти.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276" y="1524000"/>
            <a:ext cx="11147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3555950" cy="3071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47775"/>
            <a:ext cx="3555950" cy="30718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247775"/>
            <a:ext cx="3555950" cy="30718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057400"/>
            <a:ext cx="30797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057400"/>
            <a:ext cx="3079700" cy="295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057400"/>
            <a:ext cx="3079700" cy="295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248602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ayfair Display"/>
              </a:rPr>
              <a:t>Законы и суд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867025"/>
            <a:ext cx="3079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Кодификация законов, ограничение или отмена пыток, отмена смертной казни за многие преступления, гуманизация суда.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248602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ayfair Display"/>
              </a:rPr>
              <a:t>Церковь и школа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6075" y="2867025"/>
            <a:ext cx="30797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Секуляризация церковных земель, ограничение Инквизиции, введение веротерпимости, открытие начальных и профессиональных школ.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2486025"/>
            <a:ext cx="323368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ayfair Display"/>
              </a:rPr>
              <a:t>Экономика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2867025"/>
            <a:ext cx="30797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Покровительство промышленности (меркантилизм), ликвидация внутренних таможен, поддержка торговли и аграрные реформы.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152400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6075" y="152400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0625" y="1524000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Основные направления реформ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895" y="3887092"/>
            <a:ext cx="2201454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180332"/>
            <a:ext cx="514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sz="9000" b="0" i="0" u="none">
                <a:solidFill>
                  <a:srgbClr val="FDE68A"/>
                </a:solidFill>
                <a:latin typeface="Playfair Display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" y="2561332"/>
            <a:ext cx="8620125" cy="506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0" i="0" u="none">
                <a:solidFill>
                  <a:srgbClr val="0F172A"/>
                </a:solidFill>
                <a:latin typeface="Playfair Display"/>
              </a:rPr>
              <a:t>«Всё для народа, но ничего посредством народа.»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5500" y="3353692"/>
            <a:ext cx="66389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B45309"/>
                </a:solidFill>
                <a:latin typeface="Inter"/>
              </a:rPr>
              <a:t>— Формула просвещённого деспотизма (Иосиф II, Фридрих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4962" y="4315717"/>
            <a:ext cx="7620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Реформы проводились сверху силой монарха. Правители стремились сделать государство эффективным, но не собирались делиться властью с народом или превращать монархию в демократию.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770" y="3968055"/>
            <a:ext cx="140047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Противоречие «просвещённого деспотизма»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916906"/>
            <a:ext cx="2497183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47775"/>
            <a:ext cx="5372100" cy="419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345531"/>
            <a:ext cx="56407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45309"/>
                </a:solidFill>
                <a:latin typeface="Playfair Display"/>
              </a:rPr>
              <a:t>Карл III (1759–1788)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997868"/>
            <a:ext cx="140047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726531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Ограничение церкви: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Изгнал орден иезуитов из страны (1767 г.) и подчинил Инквизицию королевскому суду.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26606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Модернизация: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Благоустройство Мадрида, развитие флота, поддержка торговли и образования.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26681"/>
            <a:ext cx="51435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Восстание Эскилаче (1766 г.):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Бунт жителей Мадрида против министра Леопольдо де Эскилаче из-за запрета традиционных длинных плащей и шляп-сомбреро.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257300"/>
            <a:ext cx="5353050" cy="417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2688431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288506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888581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D97706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Реформы Карла III в Испании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47775"/>
            <a:ext cx="2540726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564070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Маркиз де Помбал в Португалии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90600"/>
            <a:ext cx="53721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676400"/>
            <a:ext cx="56407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293B"/>
                </a:solidFill>
                <a:latin typeface="Playfair Display"/>
              </a:rPr>
              <a:t>Себастьян Помбал (1750–1777)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057400"/>
            <a:ext cx="53721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Лиссабонское землетрясение 1755 г.: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Ужасное катастрофическое разрушение столицы дало Помбалу повод взяться за полные реформы и перестройку страны.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786062"/>
            <a:ext cx="5372100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Основные преобразования: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• Изгнание иезуитов из Португалии (1759 г.).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• Реформа Университета Коимбры (введение естественных наук). </a:t>
            </a:r>
            <a:r>
              <a:t>
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• Создание монопольных торговых компаний и развитие мануфактур.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328737"/>
            <a:ext cx="14004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247775"/>
            <a:ext cx="4386943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1328737"/>
            <a:ext cx="140047" cy="1333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1771650"/>
            <a:ext cx="11125200" cy="28098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1771650"/>
          <a:ext cx="11115674" cy="280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1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ayfair Display"/>
                        </a:rPr>
                        <a:t>Правитель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ayfair Display"/>
                        </a:rPr>
                        <a:t>Страна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ayfair Display"/>
                        </a:rPr>
                        <a:t>Ключевые реформы и достижения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Фридрих II Великий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Пруссия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Отмена пыток, веротерпимость, обязательное начальное обучение, кодификация законов.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Иосиф II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Австрия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Отмена личной зависимости крестьян, секуляризация, равенство всех перед законом.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Карл III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Испания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Изгнание иезуитов, ограничение инквизиции, модернизация флота и столицы.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Екатерина II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Россия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Уложенная комиссия, Жалованные грамоты дворянству и городам, школьная реформа.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8162" y="2338387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13124" y="2338387"/>
            <a:ext cx="109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11922" y="2338387"/>
            <a:ext cx="7941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8162" y="2895600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13124" y="2895600"/>
            <a:ext cx="109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11922" y="2895600"/>
            <a:ext cx="7941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8162" y="3452812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13124" y="3452812"/>
            <a:ext cx="109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11922" y="3452812"/>
            <a:ext cx="7941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8162" y="4010025"/>
            <a:ext cx="20749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13124" y="4010025"/>
            <a:ext cx="109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11922" y="4010025"/>
            <a:ext cx="79419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Просвещённый абсолютизм в лицах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47775"/>
            <a:ext cx="1074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Старый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порядок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 (</a:t>
            </a: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Ancien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 Régime):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Социально-политическая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система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европейских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государств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XVIII в.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до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Французской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революции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33575"/>
            <a:ext cx="1074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Просвещённый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1" i="0" u="none" dirty="0" err="1">
                <a:solidFill>
                  <a:srgbClr val="334155"/>
                </a:solidFill>
                <a:latin typeface="Inter"/>
              </a:rPr>
              <a:t>абсолютизм</a:t>
            </a:r>
            <a:r>
              <a:rPr sz="1350" b="1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Политика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монархов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XVIII в.,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использовавших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идеи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Просвещения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для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модернизации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государства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Inter"/>
              </a:rPr>
              <a:t>сверху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19375"/>
            <a:ext cx="107442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Олигархия: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Политический порядок, при котором власть сосредоточена в руках узкой группы знатных или богатых людей.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48000"/>
            <a:ext cx="1074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Liberum veto («свободное вето»):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Право любого депутата Сейма Речи Посполитой единолично заблокировать решение парламента.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62062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47862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33662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062287"/>
            <a:ext cx="20955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ayfair Display"/>
              </a:rPr>
              <a:t>Словарь понятий (в тетрадь)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1694" y="245204"/>
            <a:ext cx="10895391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Выполнить письменно, ориентировочно за 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15–20 минут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.</a:t>
            </a:r>
            <a:endParaRPr kumimoji="0" lang="ru-RU" alt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Объясните своими словами, что такое 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просвещённый абсолютизм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. Используйте в объяснении два признака.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Заполните мини-таблицу: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 smtClean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ru-RU" sz="1200" dirty="0">
              <a:solidFill>
                <a:srgbClr val="1F2328"/>
              </a:solidFill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ru-RU" sz="12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Ответьте на вопрос в 3–4 предложениях: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1F2328"/>
                </a:solidFill>
                <a:effectLst/>
                <a:latin typeface="Mona Sans VF"/>
              </a:rPr>
              <a:t>Почему просвещённый абсолютизм нельзя считать демократией?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1F2328"/>
              </a:solidFill>
              <a:effectLst/>
              <a:latin typeface="Mona Sans V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358048"/>
              </p:ext>
            </p:extLst>
          </p:nvPr>
        </p:nvGraphicFramePr>
        <p:xfrm>
          <a:off x="923108" y="2369729"/>
          <a:ext cx="7354390" cy="1165860"/>
        </p:xfrm>
        <a:graphic>
          <a:graphicData uri="http://schemas.openxmlformats.org/drawingml/2006/table">
            <a:tbl>
              <a:tblPr/>
              <a:tblGrid>
                <a:gridCol w="3677195">
                  <a:extLst>
                    <a:ext uri="{9D8B030D-6E8A-4147-A177-3AD203B41FA5}">
                      <a16:colId xmlns:a16="http://schemas.microsoft.com/office/drawing/2014/main" val="3207527502"/>
                    </a:ext>
                  </a:extLst>
                </a:gridCol>
                <a:gridCol w="3677195">
                  <a:extLst>
                    <a:ext uri="{9D8B030D-6E8A-4147-A177-3AD203B41FA5}">
                      <a16:colId xmlns:a16="http://schemas.microsoft.com/office/drawing/2014/main" val="1663359361"/>
                    </a:ext>
                  </a:extLst>
                </a:gridCol>
              </a:tblGrid>
              <a:tr h="236379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Правитель/страна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Пример реформы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48718"/>
                  </a:ext>
                </a:extLst>
              </a:tr>
              <a:tr h="236379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Карл </a:t>
                      </a:r>
                      <a:r>
                        <a:rPr lang="en-US" dirty="0">
                          <a:effectLst/>
                        </a:rPr>
                        <a:t>III, </a:t>
                      </a:r>
                      <a:r>
                        <a:rPr lang="ru-RU" dirty="0">
                          <a:effectLst/>
                        </a:rPr>
                        <a:t>Испания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90948"/>
                  </a:ext>
                </a:extLst>
              </a:tr>
              <a:tr h="236379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Помбал, Португалия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146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906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488406"/>
            <a:ext cx="8572500" cy="3028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05676" y="1340643"/>
            <a:ext cx="51806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0F172A"/>
                </a:solidFill>
                <a:latin typeface="Playfair Display"/>
              </a:rPr>
              <a:t>Вопросы для самопроверки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0937" y="2016918"/>
            <a:ext cx="48101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Проверьте, насколько хорошо вы усвоили материал урока: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275" y="2762250"/>
            <a:ext cx="114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293B"/>
                </a:solidFill>
                <a:latin typeface="Inter SemiBold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4575" y="2764631"/>
            <a:ext cx="7791450" cy="4857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Чем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абсолютная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монархия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XVIII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века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отличалась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от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произвольной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неограниченной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деспотии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?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Какие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факторы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ограничивали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 </a:t>
            </a:r>
            <a:r>
              <a:rPr sz="1275" b="0" i="0" u="none" dirty="0" err="1">
                <a:solidFill>
                  <a:srgbClr val="1E293B"/>
                </a:solidFill>
                <a:latin typeface="Inter SemiBold"/>
              </a:rPr>
              <a:t>монарха</a:t>
            </a:r>
            <a:r>
              <a:rPr sz="1275" b="0" i="0" u="none" dirty="0">
                <a:solidFill>
                  <a:srgbClr val="1E293B"/>
                </a:solidFill>
                <a:latin typeface="Inter SemiBold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175" y="3381375"/>
            <a:ext cx="15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293B"/>
                </a:solidFill>
                <a:latin typeface="Inter SemiBold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4575" y="3383756"/>
            <a:ext cx="7791450" cy="4857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1E293B"/>
                </a:solidFill>
                <a:latin typeface="Inter SemiBold"/>
              </a:rPr>
              <a:t>Почему Великобританию XVIII века нельзя считать современной демократией, несмотря на наличие Парламента?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2175" y="4000500"/>
            <a:ext cx="152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293B"/>
                </a:solidFill>
                <a:latin typeface="Inter SemiBold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4575" y="4002881"/>
            <a:ext cx="7791450" cy="4857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1E293B"/>
                </a:solidFill>
                <a:latin typeface="Inter SemiBold"/>
              </a:rPr>
              <a:t>Какое политическое правило стало одной из главных причин ослабления и последующего упадка Речи Посполитой?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4619625"/>
            <a:ext cx="142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E293B"/>
                </a:solidFill>
                <a:latin typeface="Inter SemiBold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4575" y="4622006"/>
            <a:ext cx="7791450" cy="4857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1E293B"/>
                </a:solidFill>
                <a:latin typeface="Inter SemiBold"/>
              </a:rPr>
              <a:t>Почему монархи европейских стран проводили реформы «просвещённого абсолютизма», но не стремились дать народу свободу?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247775"/>
            <a:ext cx="57340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2019300"/>
            <a:ext cx="57340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009775"/>
            <a:ext cx="5734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009775"/>
            <a:ext cx="5734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781300"/>
            <a:ext cx="5734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781300"/>
            <a:ext cx="57340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906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8775" y="1397793"/>
            <a:ext cx="46386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http://geocurrents.info/wp-content/uploads/2011/04/Europe-1700-Euratlas.jpg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1631156"/>
            <a:ext cx="4638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www.geocurrents.info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6217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28775" y="2169318"/>
            <a:ext cx="46386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https://www.superstock.com/cdn/1746/Comp/1746-21121167.webp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775" y="2402681"/>
            <a:ext cx="4638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www.superstock.com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3370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28775" y="2940843"/>
            <a:ext cx="46386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https://aroundprague.cz/assets/images/resources/45358/cover.jpg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8775" y="3174206"/>
            <a:ext cx="4638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aroundprague.cz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57200"/>
            <a:ext cx="116586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layfair Display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90600"/>
            <a:ext cx="11125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840</Words>
  <Application>Microsoft Office PowerPoint</Application>
  <PresentationFormat>Широкоэкранный</PresentationFormat>
  <Paragraphs>115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Inter</vt:lpstr>
      <vt:lpstr>Inter SemiBold</vt:lpstr>
      <vt:lpstr>Mona Sans VF</vt:lpstr>
      <vt:lpstr>Playfair Display</vt:lpstr>
      <vt:lpstr>Playfair Display ExtraBold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Андрей Николаевич</cp:lastModifiedBy>
  <cp:revision>4</cp:revision>
  <dcterms:created xsi:type="dcterms:W3CDTF">2013-01-27T09:14:16Z</dcterms:created>
  <dcterms:modified xsi:type="dcterms:W3CDTF">2026-09-08T03:21:32Z</dcterms:modified>
  <cp:category/>
</cp:coreProperties>
</file>