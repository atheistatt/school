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755" y="4585245"/>
            <a:ext cx="372234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701" y="1901279"/>
            <a:ext cx="2400448" cy="352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75572" y="2482304"/>
            <a:ext cx="6840855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0F172A"/>
                </a:solidFill>
                <a:latin typeface="Merriweather"/>
              </a:rPr>
              <a:t>Экономика и общество</a:t>
            </a:r>
            <a:r>
              <a:t>
</a:t>
            </a:r>
            <a:r>
              <a:rPr b="1" sz="4200" i="0" u="none">
                <a:solidFill>
                  <a:srgbClr val="0F172A"/>
                </a:solidFill>
                <a:latin typeface="Merriweather"/>
              </a:rPr>
              <a:t> в движении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3510" y="3899445"/>
            <a:ext cx="65049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Plus Jakarta Sans"/>
              </a:rPr>
              <a:t>XIX — начало XX века: от промышленной революции к массовому обществу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105" y="4642395"/>
            <a:ext cx="128587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89783"/>
            <a:ext cx="5334000" cy="209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89783"/>
            <a:ext cx="5334000" cy="209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056483"/>
            <a:ext cx="499062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Merriweather"/>
              </a:rPr>
              <a:t>1. Экономический рывок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418433"/>
            <a:ext cx="47529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Промышленная революция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→ переход к машинному труду и новые источники энергии (уголь, пар, сталь).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4018508"/>
            <a:ext cx="47529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Рост транспорта и связи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→ пароходы, железные дороги и телеграф ускоряют обмен товарами и информацией.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056483"/>
            <a:ext cx="499062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Merriweather"/>
              </a:rPr>
              <a:t>2. Перемены в обществе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418433"/>
            <a:ext cx="47529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Демографический взрыв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→ падение смертности и бурное развитие городов (урбанизация).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4018508"/>
            <a:ext cx="47529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Новое общество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→ рост класса наёмных рабочих, возникновение массового рынка и изменения в быту.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Merriweather"/>
              </a:rPr>
              <a:t>Главная логика эпохи: от фабрики к быту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979140"/>
            <a:ext cx="11049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27783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27783"/>
            <a:ext cx="1886842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2084933"/>
            <a:ext cx="128587" cy="123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399258"/>
            <a:ext cx="5143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Промышленная революция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— переход от ручного труда к машинному, от мануфактуры к фабрике.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999333"/>
            <a:ext cx="5143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Индустриализация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— превращение крупной промышленности в основу экономики.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99408"/>
            <a:ext cx="5143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Главная формула века: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уголь → паровая энергия → чугун → машины и ж/д.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199483"/>
            <a:ext cx="5143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1825 г.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— Джордж Стефенсон открыл первую железную дорогу (Стоктон—Дарлингтон).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027783"/>
            <a:ext cx="5334000" cy="3619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2380208"/>
            <a:ext cx="1238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B4530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980283"/>
            <a:ext cx="1238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B45309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580358"/>
            <a:ext cx="1238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B4530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180433"/>
            <a:ext cx="1238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B45309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Merriweather"/>
              </a:rPr>
              <a:t>Век угля и пара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979140"/>
            <a:ext cx="11049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8057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Merriweather"/>
              </a:rPr>
              <a:t>Революция транспорта и связи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367730"/>
            <a:ext cx="5334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82055"/>
            <a:ext cx="2463254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053530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Пароходы и каналы: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В 1807 г. Роберт Фултон создал один из первых пароходов. Суэцкий и Панамский каналы сократили морские пути.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653605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Фритред: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Политика свободной торговли без высоких таможенных пошлин.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253680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Передача информации: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Электрический телеграф, телефон (А. Белл, 1876 г.) и радиотелеграф.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853755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1" u="none">
                <a:solidFill>
                  <a:srgbClr val="334155"/>
                </a:solidFill>
                <a:latin typeface="Plus Jakarta Sans"/>
              </a:rPr>
              <a:t>Итог: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Транспорт сокращал время перемещения людей и товаров, а связь — время передачи информации.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1739205"/>
            <a:ext cx="128587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5470"/>
            <a:ext cx="3530649" cy="2524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75470"/>
            <a:ext cx="3530649" cy="2524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75470"/>
            <a:ext cx="3530649" cy="2524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3423195"/>
            <a:ext cx="322712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Merriweather"/>
              </a:rPr>
              <a:t>Сталь и химия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785145"/>
            <a:ext cx="307344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Появление конвертера Г. Бессемера и мартеновских печей удешевило сталь. Химическая промышленность создала красители и удобрения.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9349" y="3423195"/>
            <a:ext cx="322712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Merriweather"/>
              </a:rPr>
              <a:t>Электричество и ДВС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9349" y="3785145"/>
            <a:ext cx="307344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Электричество стало новым источником энергии. Появились генераторы, электродвигатели и двигатели внутреннего сгорания.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599" y="3423195"/>
            <a:ext cx="322712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Merriweather"/>
              </a:rPr>
              <a:t>Монополии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8599" y="3785145"/>
            <a:ext cx="307344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Монополия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— крупное объединение предприятий, контролирующее рынок (картели, синдикаты, тресты). Усилился 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протекционизм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899320"/>
            <a:ext cx="3048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9349" y="2899320"/>
            <a:ext cx="3048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8599" y="2899320"/>
            <a:ext cx="4286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Merriweather"/>
              </a:rPr>
              <a:t>Вторая промышленная революция (конец XIX века)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979140"/>
            <a:ext cx="11049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0708"/>
            <a:ext cx="5334000" cy="1771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8400" y="2856458"/>
            <a:ext cx="16002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750"/>
              </a:lnSpc>
            </a:pPr>
            <a:r>
              <a:rPr b="1" sz="6750" i="0" u="none">
                <a:solidFill>
                  <a:srgbClr val="B45309"/>
                </a:solidFill>
                <a:latin typeface="Merriweather"/>
              </a:rPr>
              <a:t>XIX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962" y="3808958"/>
            <a:ext cx="432107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78350F"/>
                </a:solidFill>
                <a:latin typeface="Plus Jakarta Sans"/>
              </a:rPr>
              <a:t>Век стремительного роста населения Европы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70708"/>
            <a:ext cx="2435869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86500" y="2942183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Merriweather"/>
              </a:rPr>
              <a:t>Главная причина — падение смертности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304133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Демографический переход: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период, когда высокая рождаемость сочетается со снизившейся смертностью.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904208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Смертность падала благодаря развитию экономики, улучшению питания, санитарии, гигиены и успехам медицины.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4504283"/>
            <a:ext cx="5334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0" sz="1275" i="1" u="none">
                <a:solidFill>
                  <a:srgbClr val="334155"/>
                </a:solidFill>
                <a:latin typeface="Plus Jakarta Sans"/>
              </a:rPr>
              <a:t>Запомнить: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Население росло не за счёт роста рождаемости, а благодаря снижению смертности!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850" y="2627858"/>
            <a:ext cx="128587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Merriweather"/>
              </a:rPr>
              <a:t>Демографический переход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979140"/>
            <a:ext cx="11049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27783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27783"/>
            <a:ext cx="2411313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2084933"/>
            <a:ext cx="128587" cy="123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399258"/>
            <a:ext cx="5143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Джон Сноу (1854 г.):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доказал связь вспышки холеры в Лондоне с загрязнённой питьевой водой.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999333"/>
            <a:ext cx="5143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«Великое зловоние» (1858 г.):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подтолкнуло власти Лондона к постройке централизованной канализации.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99408"/>
            <a:ext cx="5143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Игнац Земмельвейс: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ввёл обязательную обработку рук и инструментов перед операциями.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199483"/>
            <a:ext cx="5143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Луи Пастер: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заложил основы микробиологии и доказал бактериальную природу инфекций.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027783"/>
            <a:ext cx="5334000" cy="3619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2380208"/>
            <a:ext cx="1238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B4530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980283"/>
            <a:ext cx="1238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B45309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580358"/>
            <a:ext cx="1238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B4530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180433"/>
            <a:ext cx="1238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B45309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Merriweather"/>
              </a:rPr>
              <a:t>Санитария, гигиена и медицина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979140"/>
            <a:ext cx="11049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2925514"/>
            <a:ext cx="106489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Разрушение сословных перегородок: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Принадлежность к группе перестаёт определяться только рождением. Формируются классы — буржуазия и наёмные рабочие (пролетариат).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3563689"/>
            <a:ext cx="106489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Социальная мобильность: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Возможность менять своё положение в обществе с помощью образования, квалификации или бизнеса.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3958976"/>
            <a:ext cx="106489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Урбанизация: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Бурный рост городов и увеличение доли городского населения. В городах появляются широкие проспекты, трамваи и метро.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354264"/>
            <a:ext cx="106489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Наступление «века масс»: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Распространение одинаковых стандартов потребления, развлечений и средств информации.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39801"/>
            <a:ext cx="23812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77976"/>
            <a:ext cx="23812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73264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68551"/>
            <a:ext cx="26670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Merriweather"/>
              </a:rPr>
              <a:t>От сословий к классам и «веку масс»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979140"/>
            <a:ext cx="11049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11189"/>
            <a:ext cx="5334000" cy="24526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11189"/>
            <a:ext cx="5334000" cy="24526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877889"/>
            <a:ext cx="499062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Merriweather"/>
              </a:rPr>
              <a:t>Проблемы рабочих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239839"/>
            <a:ext cx="47529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Рабочий день длился 12–16 часов.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97026"/>
            <a:ext cx="47529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Низкие зарплаты, частые травмы, плохие жилищные условия.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954214"/>
            <a:ext cx="47529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Массовое использование женского и детского труда.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311401"/>
            <a:ext cx="47529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Пауперизм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— массовая бедность среди работников.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2877889"/>
            <a:ext cx="499062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Merriweather"/>
              </a:rPr>
              <a:t>Борьба за права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239839"/>
            <a:ext cx="47529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Луддиты: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движение против использования машин.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3597026"/>
            <a:ext cx="47529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Забастовка: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организованное прекращение работы для давления на работодателя.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4197101"/>
            <a:ext cx="47529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• Появление профсоюзов и постепенное принятие первых законов о труде.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Merriweather"/>
              </a:rPr>
              <a:t>Рабочий вопрос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979140"/>
            <a:ext cx="11049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58726"/>
            <a:ext cx="3530649" cy="3757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1958726"/>
            <a:ext cx="3530649" cy="37576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1958726"/>
            <a:ext cx="3530649" cy="37576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111126"/>
            <a:ext cx="3225849" cy="2095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3149" y="2111126"/>
            <a:ext cx="3225849" cy="2095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2399" y="2111126"/>
            <a:ext cx="3225849" cy="2095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4359026"/>
            <a:ext cx="338714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Merriweather"/>
              </a:rPr>
              <a:t>Электричество и быт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4720976"/>
            <a:ext cx="3225849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П. Яблочков и Т. Эдисон развили электрическое освещение. Появились швейные и печатные машинки.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3149" y="4359026"/>
            <a:ext cx="338714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Merriweather"/>
              </a:rPr>
              <a:t>Велосипед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3149" y="4720976"/>
            <a:ext cx="3225849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Массовое производство превратило велосипед из роскоши в доступный транспорт для миллиона людей.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2399" y="4359026"/>
            <a:ext cx="338714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Merriweather"/>
              </a:rPr>
              <a:t>Автомобиль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2399" y="4720976"/>
            <a:ext cx="3225849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К. Бенц и Г. Даймлер (1885–1886). Г. Форд с 1908 г. запустил конвейерное производство Model 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111126"/>
            <a:ext cx="3225849" cy="2095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3149" y="2111126"/>
            <a:ext cx="3225849" cy="2095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2399" y="2111126"/>
            <a:ext cx="3225849" cy="2095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Merriweather"/>
              </a:rPr>
              <a:t>Изменения в повседневной жизни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979140"/>
            <a:ext cx="11049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025401"/>
            <a:ext cx="11049000" cy="3624262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025401"/>
          <a:ext cx="11049000" cy="3624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314700"/>
                <a:gridCol w="7734300"/>
              </a:tblGrid>
              <a:tr h="517751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Merriweather"/>
                        </a:rPr>
                        <a:t>Термин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Merriweather"/>
                        </a:rPr>
                        <a:t>Определение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517751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Промышленная революция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Переход от ручного труда к машинному, от мануфактуры к фабрике.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751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Индустриализация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Превращение крупной промышленности в основу экономики государства.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751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Урбанизация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Рост городов и увеличение доли населения, проживающего в них.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751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Демографический переход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Быстрый рост населения из-за падения смертности при высокой рождаемости.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751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Монополия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Крупное объединение предприятий, контролирующее рынок и цены.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7756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Рабочий вопрос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Комплекс социальных проблем, связанных с тяжелым положением наёмных рабочих.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530226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86200" y="2530226"/>
            <a:ext cx="7734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049339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86200" y="3049339"/>
            <a:ext cx="7734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568451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0" y="3568451"/>
            <a:ext cx="7734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087564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4087564"/>
            <a:ext cx="7734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606676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86200" y="4606676"/>
            <a:ext cx="7734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5125789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86200" y="5125789"/>
            <a:ext cx="7734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Merriweather"/>
              </a:rPr>
              <a:t>Словарь урока (Записать в тетрадь)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979140"/>
            <a:ext cx="11049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93465"/>
            <a:ext cx="11049000" cy="1081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26952"/>
            <a:ext cx="11049000" cy="1628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08127"/>
            <a:ext cx="11049000" cy="1438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04825"/>
            <a:ext cx="409575" cy="323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1483965"/>
            <a:ext cx="1106138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B45309"/>
                </a:solidFill>
                <a:latin typeface="Merriweather"/>
              </a:rPr>
              <a:t>Задание 1. Понятия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826865"/>
            <a:ext cx="105346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Дайте краткое определение в тетради трём терминам: 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промышленная революция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индустриализация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урбанизация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2717452"/>
            <a:ext cx="1106138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B45309"/>
                </a:solidFill>
                <a:latin typeface="Merriweather"/>
              </a:rPr>
              <a:t>Задание 2. Причинно-следственная цепочка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060352"/>
            <a:ext cx="105346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Перерисуйте в тетрадь и заполните пропуски: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417540"/>
            <a:ext cx="10534650" cy="4333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7250" y="4498627"/>
            <a:ext cx="1106138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B45309"/>
                </a:solidFill>
                <a:latin typeface="Merriweather"/>
              </a:rPr>
              <a:t>Задание 3. Развёрнутый ответ (5–7 предложений)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841527"/>
            <a:ext cx="105346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Ответьте на вопрос: 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«Почему промышленную революцию нельзя рассматривать только как изменение способов производства?»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5198715"/>
            <a:ext cx="1053465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1" u="none">
                <a:solidFill>
                  <a:srgbClr val="334155"/>
                </a:solidFill>
                <a:latin typeface="Plus Jakarta Sans"/>
              </a:rPr>
              <a:t>В ответе обязательно свяжите между собой: экономику, население, города, труд и повседневную жизнь.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409575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Merriweather"/>
              </a:rPr>
              <a:t>Домашнее задание (15–20 минут)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979140"/>
            <a:ext cx="11049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356270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29924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07077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84229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613820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2897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2897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0612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0612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8327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8327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6042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6042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5472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55472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8487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499145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https://images.fineartamerica.com/images/artworkimages/mediumlarge/2/the-locomotion-no-1-in-darlington-england-a-steam-locomotive-invented-by-george-stephenson-1781-1848-in-1825-colour-engraving-after-a-19th-century-illustration-american-school.jpg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918245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fineartamerica.com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4212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449264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http://images.computerhistory.org/revonline/images/500004809-03-01.jpg?w=600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68262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www.computerhistory.org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13645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220789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https://media.londonmuseum.org.uk/images/wagtailsource-victoria-embankmen.width-1136.format-webp_FN6WQ38.webp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45415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www.londonmuseum.org.uk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85170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3992314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https://www.archives.gov/files/milestone-documents/images/doc-046-big.jpg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22567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www.archives.gov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42420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756695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https://images.immediate.co.uk/production/volatile/sites/7/2019/11/176.GettyImages-3094926-9d17978-e1573636517182.jpg?quality=90&amp;crop=2px,0px,1019px,679px&amp;resize=980,654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5175795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www.historyextra.com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699670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706814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https://silodrome.com/wp-content/uploads/2018/11/A-Brief-History-of-the-Model-T-Ford-20a.jpg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94017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silodrome.com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76250"/>
            <a:ext cx="11601450" cy="4171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Merriweather"/>
              </a:rPr>
              <a:t>Image Sources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979140"/>
            <a:ext cx="11049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