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8.png"/><Relationship Id="rId7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23.png"/><Relationship Id="rId7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737" y="2574577"/>
            <a:ext cx="3438525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80560" y="3041302"/>
            <a:ext cx="7030878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0F172A"/>
                </a:solidFill>
                <a:latin typeface="Roboto Slab"/>
              </a:rPr>
              <a:t>Общество и его структура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26073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Теоретический конспект и ключевые понятия кодификатора ФИПИ для успешного выполнения заданий ОГЭ №1, 5, 21–24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137" y="2650777"/>
            <a:ext cx="1809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472112"/>
            <a:ext cx="11239500" cy="957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228725"/>
            <a:ext cx="5476875" cy="2105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228725"/>
            <a:ext cx="5476875" cy="2105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5619750"/>
            <a:ext cx="1795462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Понятие «Общество» (для ОГЭ)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325" y="5895975"/>
            <a:ext cx="10848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1E3A8A"/>
                </a:solidFill>
                <a:latin typeface="Inter"/>
              </a:rPr>
              <a:t>Общество (в широком смысле)</a:t>
            </a:r>
            <a:r>
              <a:rPr b="0" sz="1125" i="0" u="none">
                <a:solidFill>
                  <a:srgbClr val="1E3A8A"/>
                </a:solidFill>
                <a:latin typeface="Inter Medium"/>
              </a:rPr>
              <a:t> — обособившаяся от природы, но тесно связанная с ней часть материального мира, которая включает в себя способы взаимодействия людей и формы их объединения.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1447800"/>
            <a:ext cx="529066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Roboto Slab SemiBold"/>
              </a:rPr>
              <a:t>В широком смысле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1819275"/>
            <a:ext cx="50387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1. Обособившаяся от природы, но тесно связанная с ней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часть материального мира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, включающая формы объединения и способы взаимодействия людей.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581275"/>
            <a:ext cx="5038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2. Всё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человечество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в его прошлом, настоящем и будущем.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950" y="1447800"/>
            <a:ext cx="529066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Roboto Slab SemiBold"/>
              </a:rPr>
              <a:t>В узком смысле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7950" y="18192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1.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Группа людей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, объединенных общими интересами или целью (напр., общество любителей книг).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2352675"/>
            <a:ext cx="5038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2. Конкретный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этап в истории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(напр., феодальное общество).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26574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3. Население отдельной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страны/региона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(напр., российское общество).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5662612"/>
            <a:ext cx="11906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990975"/>
            <a:ext cx="11239500" cy="957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228725"/>
            <a:ext cx="2667000" cy="2619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228725"/>
            <a:ext cx="2667000" cy="2619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228725"/>
            <a:ext cx="2667000" cy="2619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0" y="1228725"/>
            <a:ext cx="2667000" cy="2619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4138612"/>
            <a:ext cx="1795462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Сферы жизни общества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325" y="4414837"/>
            <a:ext cx="10848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1E3A8A"/>
                </a:solidFill>
                <a:latin typeface="Inter Medium"/>
              </a:rPr>
              <a:t>Все 4 сферы общественной жизни взаимосвязаны и образуют единую динамическую систему. Изменение в одной сфере влечет изменения в других.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1914525"/>
            <a:ext cx="238029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Roboto Slab SemiBold"/>
              </a:rPr>
              <a:t>Экономическая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286000"/>
            <a:ext cx="2266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Производство, распределение, обмен и потребление материальных благ и услуг.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3276600"/>
            <a:ext cx="2266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Институты: рынок, собственность, деньги, банки.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3775" y="1914525"/>
            <a:ext cx="238029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Roboto Slab SemiBold"/>
              </a:rPr>
              <a:t>Политическая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3775" y="2286000"/>
            <a:ext cx="22669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Отношения по поводу власти и управления обществом, государственные институты.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3775" y="3048000"/>
            <a:ext cx="2266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Институты: государство, партии, законы, суды.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1914525"/>
            <a:ext cx="238029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Roboto Slab SemiBold"/>
              </a:rPr>
              <a:t>Социальная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2286000"/>
            <a:ext cx="2266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Взаимоотношения социальных групп, слоев, этносов, семьи и забота об их благополучии.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276600"/>
            <a:ext cx="2266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Институты: семья, сословия, классы, нации.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775" y="1914525"/>
            <a:ext cx="238029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Roboto Slab SemiBold"/>
              </a:rPr>
              <a:t>Духовная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2286000"/>
            <a:ext cx="22669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Создание, сохранение и распространение духовных и культурных ценностей.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3048000"/>
            <a:ext cx="2266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Институты: наука, образование, религия, мораль, искусство.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4181475"/>
            <a:ext cx="119062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1457325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3775" y="1457325"/>
            <a:ext cx="304800" cy="304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1457325"/>
            <a:ext cx="3810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8775" y="145732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434012"/>
            <a:ext cx="11239500" cy="995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5581650"/>
            <a:ext cx="1795462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228725"/>
            <a:ext cx="5476875" cy="285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Социальная структура общества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5325" y="5857875"/>
            <a:ext cx="10848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1E3A8A"/>
                </a:solidFill>
                <a:latin typeface="Inter"/>
              </a:rPr>
              <a:t>Социальная структура</a:t>
            </a:r>
            <a:r>
              <a:rPr b="0" sz="1125" i="0" u="none">
                <a:solidFill>
                  <a:srgbClr val="1E3A8A"/>
                </a:solidFill>
                <a:latin typeface="Inter Medium"/>
              </a:rPr>
              <a:t> — это совокупность взаимосвязанных элементов (социальных групп, общностей и институтов) и отношений между ними.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6096000"/>
            <a:ext cx="10848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1E3A8A"/>
                </a:solidFill>
                <a:latin typeface="Inter Medium"/>
              </a:rPr>
              <a:t>Критерии социальной стратификации (неравенства): </a:t>
            </a:r>
            <a:r>
              <a:rPr b="0" sz="1125" i="0" u="sng">
                <a:solidFill>
                  <a:srgbClr val="1E3A8A"/>
                </a:solidFill>
                <a:latin typeface="Inter Medium"/>
              </a:rPr>
              <a:t>доход, власть, образование, престиж профессии</a:t>
            </a:r>
            <a:r>
              <a:rPr b="0" sz="1125" i="0" u="none">
                <a:solidFill>
                  <a:srgbClr val="1E3A8A"/>
                </a:solidFill>
                <a:latin typeface="Inter Medium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1228725"/>
            <a:ext cx="575071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Roboto Slab SemiBold"/>
              </a:rPr>
              <a:t>Основные элементы структуры: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5624512"/>
            <a:ext cx="119062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160020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1600200"/>
            <a:ext cx="528637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Социальные группы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(профессиональные, демографические и др.);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182880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1828800"/>
            <a:ext cx="528637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Социальные слои (страты)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(деление по доходу, власти, образованию, престижу);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228600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2286000"/>
            <a:ext cx="528637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Социальные институты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(исторически сложившиеся формы организации совместной деятельности).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238250"/>
            <a:ext cx="5457825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667125"/>
            <a:ext cx="11239500" cy="757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814762"/>
            <a:ext cx="1795462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Классификация социальных групп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6250" y="1228725"/>
          <a:ext cx="11229973" cy="2295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15629"/>
                <a:gridCol w="4258716"/>
                <a:gridCol w="4555628"/>
              </a:tblGrid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Inter SemiBold"/>
                        </a:rPr>
                        <a:t>Критерий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Inter SemiBold"/>
                        </a:rPr>
                        <a:t>Виды групп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Inter SemiBold"/>
                        </a:rPr>
                        <a:t>Примеры для ОГЭ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По численности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Малые / Большие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Школьный класс, семья / Молодёжь, нация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По способу организации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Формальные / Неформальные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Сотрудники фирмы / Компания друзей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По характеру связей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Первичные / Вторичные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Семья, друзья / Члены профсоюза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По социально значимому признаку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Демографические, Этнические, Профессиональные, Поселенческие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Женщины, молодежь / Русские, татары / Врачи, учители / Горожане, сельчане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5325" y="4090987"/>
            <a:ext cx="10848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1E3A8A"/>
                </a:solidFill>
                <a:latin typeface="Inter"/>
              </a:rPr>
              <a:t>Социальная группа</a:t>
            </a:r>
            <a:r>
              <a:rPr b="0" sz="1125" i="0" u="none">
                <a:solidFill>
                  <a:srgbClr val="1E3A8A"/>
                </a:solidFill>
                <a:latin typeface="Inter Medium"/>
              </a:rPr>
              <a:t> — объединение людей, имеющих общий социально значимый признак (пол, возраст, профессия, доход и др.) и общие интересы.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3857625"/>
            <a:ext cx="11906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567237"/>
            <a:ext cx="5238750" cy="1900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4714875"/>
            <a:ext cx="1795462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28625"/>
            <a:ext cx="5500687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Малая группа и семья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971550"/>
            <a:ext cx="5238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4991100"/>
            <a:ext cx="48482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1E3A8A"/>
                </a:solidFill>
                <a:latin typeface="Inter"/>
              </a:rPr>
              <a:t>Классификация семей (для ОГЭ):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228725"/>
            <a:ext cx="4972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Признаки малой группы: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личный контакт, общая цель, эмоциональные связи, небольшая численность (от 2 до 30 человек).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028825"/>
            <a:ext cx="49720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Семья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— одновременно малая группа и социальный институт.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4757737"/>
            <a:ext cx="119062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050" y="519112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5191125"/>
            <a:ext cx="4676775" cy="6858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По составу: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нуклеарная (родители + дети) и многопоколенная (требует совместного проживания с дедушками/бабушками).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587692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5876925"/>
            <a:ext cx="467677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По распределению обязанностей: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патриархальная (глава — муж) и партнерская/демократическая (равноправие).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1257300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20574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209925"/>
            <a:ext cx="11239500" cy="995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228725"/>
            <a:ext cx="5476875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228725"/>
            <a:ext cx="5476875" cy="1838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357562"/>
            <a:ext cx="1795462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Социальная мобильность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325" y="3633787"/>
            <a:ext cx="10848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1E3A8A"/>
                </a:solidFill>
                <a:latin typeface="Inter"/>
              </a:rPr>
              <a:t>Социальная мобильность</a:t>
            </a:r>
            <a:r>
              <a:rPr b="0" sz="1125" i="0" u="none">
                <a:solidFill>
                  <a:srgbClr val="1E3A8A"/>
                </a:solidFill>
                <a:latin typeface="Inter Medium"/>
              </a:rPr>
              <a:t> — изменение индивидом или группой своего положения в обществе.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871912"/>
            <a:ext cx="10848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1E3A8A"/>
                </a:solidFill>
                <a:latin typeface="Inter"/>
              </a:rPr>
              <a:t>Каналы социальной мобильности («социальные лифты»):</a:t>
            </a:r>
            <a:r>
              <a:rPr b="0" sz="1125" i="0" u="none">
                <a:solidFill>
                  <a:srgbClr val="1E3A8A"/>
                </a:solidFill>
                <a:latin typeface="Inter Medium"/>
              </a:rPr>
              <a:t> образование, брак, армия, бизнес, профессия, СМИ.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1447800"/>
            <a:ext cx="529066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Roboto Slab SemiBold"/>
              </a:rPr>
              <a:t>Вертикальная мобильность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18192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Перемещение из одного социального слоя в другой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изменением социального статуса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2352675"/>
            <a:ext cx="5038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Восходящая: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повышение в должности, рост дохода.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2619375"/>
            <a:ext cx="5038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Нисходящая: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увольнение, банкротство.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1447800"/>
            <a:ext cx="529066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Roboto Slab SemiBold"/>
              </a:rPr>
              <a:t>Горизонтальная мобильность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18192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Перемещение внутри одного социального слоя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без изменения социального статуса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950" y="23526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334155"/>
                </a:solidFill>
                <a:latin typeface="Inter"/>
              </a:rPr>
              <a:t>Пример: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переход инженера с одного завода на аналогичный с той же зарплатой; переезд в другой город без смены профессии.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3400425"/>
            <a:ext cx="11906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71800"/>
            <a:ext cx="11239500" cy="957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119437"/>
            <a:ext cx="1795462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Государство и его признаки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3395662"/>
            <a:ext cx="10848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1E3A8A"/>
                </a:solidFill>
                <a:latin typeface="Inter"/>
              </a:rPr>
              <a:t>Легитимность власти</a:t>
            </a:r>
            <a:r>
              <a:rPr b="0" sz="1125" i="0" u="none">
                <a:solidFill>
                  <a:srgbClr val="1E3A8A"/>
                </a:solidFill>
                <a:latin typeface="Inter Medium"/>
              </a:rPr>
              <a:t> — общественное признание права власти на управление и готовность граждан ей подчиняться (в отличие от легальности — формальной законности).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1438275"/>
            <a:ext cx="5476875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b="1" sz="7500" i="0" u="none">
                <a:solidFill>
                  <a:srgbClr val="2563EB"/>
                </a:solidFill>
                <a:latin typeface="Roboto Slab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390775"/>
            <a:ext cx="5476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 SemiBold"/>
              </a:rPr>
              <a:t>обязательных признака государства для ОГЭ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3162300"/>
            <a:ext cx="119062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5575" y="1228725"/>
            <a:ext cx="5210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Суверенитет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(независимость во внешних и верховенство во внутренних делах).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1800225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Монополия на сбор налогов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и право издания законов.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2143125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Единая территория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и публичная власть.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2486025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Право на легальное принуждение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(силовые органы).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25730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1828800"/>
            <a:ext cx="1143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2171700"/>
            <a:ext cx="1714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25146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609975"/>
            <a:ext cx="11239500" cy="757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228725"/>
            <a:ext cx="5476875" cy="2238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228725"/>
            <a:ext cx="5476875" cy="2238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757612"/>
            <a:ext cx="1795462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Социальные нормы и контроль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325" y="4033837"/>
            <a:ext cx="10848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1E3A8A"/>
                </a:solidFill>
                <a:latin typeface="Inter Medium"/>
              </a:rPr>
              <a:t>Главная функция социального контроля — обеспечение предсказуемости поведения людей и стабильности общества.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1447800"/>
            <a:ext cx="529066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Roboto Slab SemiBold"/>
              </a:rPr>
              <a:t>Виды социальных норм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950" y="1447800"/>
            <a:ext cx="529066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Roboto Slab SemiBold"/>
              </a:rPr>
              <a:t>Структура социального контроля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950" y="1819275"/>
            <a:ext cx="5038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Социальный контроль включает в себя 2 элемента: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3800475"/>
            <a:ext cx="119062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050" y="18192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1819275"/>
            <a:ext cx="486727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Нормы права: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закреплены законами, обязательны, охраняются государством.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22764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2276475"/>
            <a:ext cx="486727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Нормы морали: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основаны на представлениях о добре и зле, регулируются совестью и общественным мнением.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27336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2733675"/>
            <a:ext cx="486727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Традиции и обычаи: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привычные правила, передаваемые из поколения в поколение.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2105025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05025"/>
            <a:ext cx="4867275" cy="2286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Социальные нормы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(правила поведения).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2352675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352675"/>
            <a:ext cx="4867275" cy="19050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Социальные санкции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(реакция общества):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2562225"/>
            <a:ext cx="95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562225"/>
            <a:ext cx="4867275" cy="2286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Формальные позитивные (грамота, орден)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4150" y="2790825"/>
            <a:ext cx="95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790825"/>
            <a:ext cx="4867275" cy="2286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Формальные негативные (штраф, арест)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4150" y="3019425"/>
            <a:ext cx="95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019425"/>
            <a:ext cx="4867275" cy="2286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Неформальные (похвала / осуждение)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472112"/>
            <a:ext cx="11239500" cy="957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5619750"/>
            <a:ext cx="2614612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Чек-лист ключевых терминов для ОГЭ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5895975"/>
            <a:ext cx="10848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1E3A8A"/>
                </a:solidFill>
                <a:latin typeface="Inter Medium"/>
              </a:rPr>
              <a:t>В Задании №1 требуются </a:t>
            </a:r>
            <a:r>
              <a:rPr b="0" sz="1125" i="0" u="sng">
                <a:solidFill>
                  <a:srgbClr val="1E3A8A"/>
                </a:solidFill>
                <a:latin typeface="Inter Medium"/>
              </a:rPr>
              <a:t>2 признака термина</a:t>
            </a:r>
            <a:r>
              <a:rPr b="0" sz="1125" i="0" u="none">
                <a:solidFill>
                  <a:srgbClr val="1E3A8A"/>
                </a:solidFill>
                <a:latin typeface="Inter Medium"/>
              </a:rPr>
              <a:t>. Не пишите «воды» — заучивайте ровно те формулировки, которые выделены на слайдах в синих рамках «Запись в тетрадь»!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1228725"/>
            <a:ext cx="575071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Roboto Slab SemiBold"/>
              </a:rPr>
              <a:t>Задание №1 ОГЭ (Термины):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875" y="1228725"/>
            <a:ext cx="575071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Roboto Slab SemiBold"/>
              </a:rPr>
              <a:t>Задание №5 / №21–24 ОГЭ: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5662612"/>
            <a:ext cx="138112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1600200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Общество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— материальный мир + способы взаимодействия.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943100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Социальная группа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— люди с общим признаком.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286000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Семья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— малая группа на основе брака/родства и общего быта.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628900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Социальная стратификация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— иерархическое деление общества.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1600200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Социальная мобильность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— вертикальная и горизонтальная.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1943100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Государство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— суверенитет, налоги, законы.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2286000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Социальные нормы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— право, мораль, традиции.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2628900"/>
            <a:ext cx="521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Социальный контроль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— нормы + санкции.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62877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971675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314575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657475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628775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971675"/>
            <a:ext cx="1333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314575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657475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228725"/>
            <a:ext cx="11239500" cy="1357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728912"/>
            <a:ext cx="11239500" cy="13573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5472112"/>
            <a:ext cx="11239500" cy="9572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5619750"/>
            <a:ext cx="3219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Домашнее задание: Практикум ОГЭ (Развернутый ответ)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695450"/>
            <a:ext cx="10801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Укажите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три любых канала социальной мобильности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(«социальных лифта») и проиллюстрируйте каждый из них развернутым примером из жизни современного общества или истории.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2181225"/>
            <a:ext cx="108013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1" u="none">
                <a:solidFill>
                  <a:srgbClr val="64748B"/>
                </a:solidFill>
                <a:latin typeface="Inter"/>
              </a:rPr>
              <a:t>⚠️ Каждый пример должен содержать конкретную ситуацию (субъект, действие, результат изменения социального статуса).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3195637"/>
            <a:ext cx="10801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Используя обществоведческие знания и факты общественной жизни, приведите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два развернутых аргумента (объяснения)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в пользу того, почему семья является главным институтом первичной социализации индивида.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681412"/>
            <a:ext cx="108013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1" u="none">
                <a:solidFill>
                  <a:srgbClr val="64748B"/>
                </a:solidFill>
                <a:latin typeface="Inter"/>
              </a:rPr>
              <a:t>⚠️ Аргументы должны быть сформулированы как полные распространенные предложения с четким обоснованием причинно-следственной связи.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5895975"/>
            <a:ext cx="10848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1E3A8A"/>
                </a:solidFill>
                <a:latin typeface="Inter Medium"/>
              </a:rPr>
              <a:t>Запишите ответы развернуто в тетради. Следите за структурой: на каждый пункт задавайте себе вопрос: </a:t>
            </a:r>
            <a:r>
              <a:rPr b="0" sz="1125" i="1" u="none">
                <a:solidFill>
                  <a:srgbClr val="1E3A8A"/>
                </a:solidFill>
                <a:latin typeface="Inter Medium"/>
              </a:rPr>
              <a:t>«Есть ли у меня указание института/канала + сам пример/аргумент?»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404937"/>
            <a:ext cx="20383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47975" y="1390650"/>
            <a:ext cx="457057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Roboto Slab SemiBold"/>
              </a:rPr>
              <a:t>Иллюстрация примерами («Социальные лифты»)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2905125"/>
            <a:ext cx="2066925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76550" y="2890837"/>
            <a:ext cx="40305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Roboto Slab SemiBold"/>
              </a:rPr>
              <a:t>Аргументация и объяснение («Роль семьи»)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5662612"/>
            <a:ext cx="11906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6250" y="1228725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6250" y="19907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250" y="19907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37160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1625" y="1378743"/>
            <a:ext cx="101441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https://www.egypttoursportal.com/images/2024/12/Socialy-Pyramid-ancient-Egypt-Egypt-Tours-Portal.jpg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1625" y="1612106"/>
            <a:ext cx="10144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www.egypttoursportal.com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43125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1625" y="2150268"/>
            <a:ext cx="101441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https://online.csp.edu/wp-content/uploads/2022/08/csp_article_american-family_header.jpg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1625" y="2383631"/>
            <a:ext cx="10144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online.csp.edu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428625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Roboto Slab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6250" y="9715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6250" y="1228725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6250" y="19907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6250" y="19907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371600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71625" y="1378743"/>
            <a:ext cx="101441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https://www.egypttoursportal.com/images/2024/12/Socialy-Pyramid-ancient-Egypt-Egypt-Tours-Portal.jpg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1612106"/>
            <a:ext cx="10144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www.egypttoursportal.com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4312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71625" y="2150268"/>
            <a:ext cx="101441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https://online.csp.edu/wp-content/uploads/2022/08/csp_article_american-family_header.jpg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625" y="2383631"/>
            <a:ext cx="10144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online.csp.edu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